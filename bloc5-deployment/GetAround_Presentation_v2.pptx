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71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0059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411480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GetAround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retards &amp; Optimisation du pricing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- Jedha CDSD - Bloc 5 : Industrialisation &amp; Déploiement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21 310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999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analysées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97480" y="2423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R² = 0.756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2999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2423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2999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déployés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·  Jedha CDSD  · 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01168" cy="201168"/>
          </a:xfrm>
          <a:prstGeom prst="ellipse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conducteurs rendent parfois les voitures en retard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2130552"/>
            <a:ext cx="201168" cy="201168"/>
          </a:xfrm>
          <a:prstGeom prst="ellipse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impacte le prochain locataire si la voiture est re-réservée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843784"/>
            <a:ext cx="201168" cy="201168"/>
          </a:xfrm>
          <a:prstGeom prst="ellipse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5800" y="28163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client reçoit des plaintes et annulations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3557016"/>
            <a:ext cx="201168" cy="201168"/>
          </a:xfrm>
          <a:prstGeom prst="ellipse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85800" y="352958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: trouver le bon délai minimum entre deux locations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914400"/>
            <a:ext cx="36576" cy="38404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objectifs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54864" cy="14173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773168" y="155448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376672" y="158191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76672" y="1947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Aider le PM à choisir le seuil minimum entre deux locations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54864" cy="14173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773168" y="315468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5D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376672" y="318211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ML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76672" y="35478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Suggérer le prix optimal via un endpoint /predict deployé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retards : Résultats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011680" cy="54864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10241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5D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57.5%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retours en retard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468880" y="914400"/>
            <a:ext cx="2011680" cy="54864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468880" y="10241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5D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+9 min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468880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 médian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91440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17720" y="914400"/>
            <a:ext cx="2011680" cy="54864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17720" y="10241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21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218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17720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problématiques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66560" y="91440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766560" y="914400"/>
            <a:ext cx="2011680" cy="54864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766560" y="10241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21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11.8%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766560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enchainées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23317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vs Connect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2697480"/>
            <a:ext cx="4754880" cy="384048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74904" y="26974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89304" y="269748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49424" y="269748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retard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9544" y="26974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retard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32504" y="269748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090672"/>
            <a:ext cx="475488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74904" y="309067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89304" y="3090672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12 944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49424" y="3090672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7 945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9544" y="309067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32504" y="3090672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547872"/>
            <a:ext cx="4754880" cy="438912"/>
          </a:xfrm>
          <a:prstGeom prst="rect">
            <a:avLst/>
          </a:prstGeom>
          <a:solidFill>
            <a:srgbClr val="F0FAF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74904" y="354787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89304" y="3547872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3 402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249424" y="3547872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1 459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9544" y="354787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032504" y="3547872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 min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12080" y="2331720"/>
            <a:ext cx="3657600" cy="2633472"/>
          </a:xfrm>
          <a:prstGeom prst="rect">
            <a:avLst/>
          </a:prstGeom>
          <a:solidFill>
            <a:srgbClr val="0F2138"/>
          </a:solidFill>
          <a:ln w="12700">
            <a:solidFill>
              <a:srgbClr val="E05D44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440680" y="24871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clé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28803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est plus fiable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(-9 min de médiane vs +14 min pour Mobile)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génère 2× plus de cas problématiques (149 vs 69)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: seuil minimum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: cas résolus vs locations bloquées (scope = all cars)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402336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93192" y="126187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56232" y="126187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résolus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19272" y="126187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résolus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82312" y="126187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Loc. bloquées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65392" y="1261872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revenus impactés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82496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93192" y="168249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56232" y="168249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/ 218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19272" y="168249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2312" y="1682496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65392" y="1682496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2121408"/>
            <a:ext cx="8503920" cy="411480"/>
          </a:xfrm>
          <a:prstGeom prst="rect">
            <a:avLst/>
          </a:prstGeom>
          <a:solidFill>
            <a:srgbClr val="FFF0EE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93192" y="21214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856232" y="21214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 / 218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19272" y="21214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67.4%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82312" y="212140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65392" y="2121408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3192" y="212140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50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Recommandé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560320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93192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min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856232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/ 218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19272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82312" y="2560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65392" y="256032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0040" y="2999232"/>
            <a:ext cx="850392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93192" y="29992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min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856232" y="29992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 / 218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319272" y="29992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81.2%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82312" y="299923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1 001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565392" y="299923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0040" y="3813048"/>
            <a:ext cx="8503920" cy="868680"/>
          </a:xfrm>
          <a:prstGeom prst="rect">
            <a:avLst/>
          </a:prstGeom>
          <a:solidFill>
            <a:srgbClr val="0F2138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48640" y="38587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finale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120 minutes  |  Scope : toutes les voitures  |  67.4% des cas résolus pour seulement 3.1% de revenus impactés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scope : All cars vs Connect only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périmètre d'application pour le seuil minimum 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8503920" cy="402336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91640" y="91440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problém.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17520" y="91440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Résolus à 120min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43400" y="9144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résolu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49240" y="91440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Loc. bloquées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0" y="91440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revenus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335024"/>
            <a:ext cx="8503920" cy="411480"/>
          </a:xfrm>
          <a:prstGeom prst="rect">
            <a:avLst/>
          </a:prstGeom>
          <a:solidFill>
            <a:srgbClr val="FFF0EE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65760" y="1335024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cars 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1335024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1335024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1335024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67.4%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1335024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33502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1773936"/>
            <a:ext cx="850392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1773936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1773936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1773936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43400" y="177393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~77%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1773936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177393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212848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65760" y="221284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only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91640" y="221284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17520" y="221284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43400" y="221284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221284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22128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~2.3%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2697480"/>
            <a:ext cx="272491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20040" y="2697480"/>
            <a:ext cx="54864" cy="2331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02920" y="27889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only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3218688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Efficacité maximale (~77%) avec impact minimal (~0.9% revenus).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couvre seulement 69/218 cas — 69% des problèmes restent non résolus.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172968" y="2697480"/>
            <a:ext cx="272491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172968" y="2697480"/>
            <a:ext cx="54864" cy="23317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355848" y="27889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cars ★ Recommandé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55848" y="3218688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compromis : 67.4% des cas résolus pour 3.1% de revenus impactés.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Couvre tous les types de checkin sans discriminer les propriétaires.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25896" y="2697480"/>
            <a:ext cx="272491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025896" y="2697480"/>
            <a:ext cx="54864" cy="2331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208776" y="27889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only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08776" y="3218688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les retards les plus fréquents mais pénalise fortement les owners Mobile (2.3% revenus impactés).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Pricing : Insights clés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du prix journalier  •  4 843 voitures  •  0 valeur manquante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1627632" cy="54864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5D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10 €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166420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29968" y="914400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029968" y="914400"/>
            <a:ext cx="1627632" cy="54864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029968" y="100584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5D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104 €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029968" y="166420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(25%)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39896" y="914400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739896" y="914400"/>
            <a:ext cx="1627632" cy="54864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739896" y="100584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5D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119 €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739896" y="166420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9824" y="914400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449824" y="914400"/>
            <a:ext cx="1627632" cy="54864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449824" y="100584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5D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136 €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49824" y="166420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(75%)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59752" y="914400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159752" y="914400"/>
            <a:ext cx="1627632" cy="54864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159752" y="100584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5D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422 €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59752" y="166420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max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14884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2148840"/>
            <a:ext cx="4114800" cy="54864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02920" y="228600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du prix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269748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Distribution quasi-normale, légèrement asymétrique à droite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317296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75% des voitures entre 104 € et 136 €/jour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364845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Écart-type : 33 €, dispersion modérée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412394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Outliers &gt; 300 € : voitures premium (Maserati, Porsche)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09160" y="214884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709160" y="2148840"/>
            <a:ext cx="4114800" cy="54864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92040" y="228600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influençant le prix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92040" y="269748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Puissance moteur : plus forte corrélation positive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92040" y="317296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Marques premium : prix systématiquement &gt; 200 €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92040" y="364845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Carburant électrique/hybride : prix plus élevés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92040" y="412394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Kilométrage élevé → légère baisse de prix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92040" y="459943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GetAround Connect &amp; boîte auto : +10 à +20 €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FFFAF0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320040" y="4773168"/>
            <a:ext cx="54864" cy="2743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5720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propre, 0 NaN sur 4 843 voitures et 13 features. Distribution compatible avec une régression GBM sans transformation de la target.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: Qu'est-ce qui influence le prix 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GradientBoostingRegressor, variables les plus prédictives (estimées sur dataset Getaround)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9326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moteur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1005840"/>
            <a:ext cx="6492240" cy="20116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240280" y="1005840"/>
            <a:ext cx="6278880" cy="201168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778240" y="93268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3167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1389888"/>
            <a:ext cx="6492240" cy="20116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240280" y="1389888"/>
            <a:ext cx="3017520" cy="20116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778240" y="131673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17007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Kilométrage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40280" y="1773936"/>
            <a:ext cx="6492240" cy="20116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240280" y="1773936"/>
            <a:ext cx="2042160" cy="20116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778240" y="170078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0848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carrosserie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40280" y="2157984"/>
            <a:ext cx="6492240" cy="20116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240280" y="2157984"/>
            <a:ext cx="1356360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778240" y="208483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4688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Carburant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40280" y="2542032"/>
            <a:ext cx="6492240" cy="20116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240280" y="2542032"/>
            <a:ext cx="929640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8778240" y="246888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28529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GetAround Connect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40280" y="2926080"/>
            <a:ext cx="6492240" cy="20116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2240280" y="2926080"/>
            <a:ext cx="579120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778240" y="285292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2369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Boîte automatique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40280" y="3310128"/>
            <a:ext cx="6492240" cy="20116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2240280" y="3310128"/>
            <a:ext cx="411480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8778240" y="323697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36210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privé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40280" y="3694176"/>
            <a:ext cx="6492240" cy="20116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2240280" y="3694176"/>
            <a:ext cx="289560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8778240" y="362102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0050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Climatisation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40280" y="4078224"/>
            <a:ext cx="6492240" cy="20116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2240280" y="4078224"/>
            <a:ext cx="182880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8778240" y="400507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43891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240280" y="4462272"/>
            <a:ext cx="6492240" cy="20116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240280" y="4462272"/>
            <a:ext cx="152400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8778240" y="438912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FFFAF0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320040" y="4773168"/>
            <a:ext cx="54864" cy="2743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45720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puissance moteur (41%) et la marque (20%) expliquent 61% de la variance, bien plus que les équipements booléens (&lt;5% chacun).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 : Pricing Optimization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0299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029968" cy="54864"/>
          </a:xfrm>
          <a:prstGeom prst="rect">
            <a:avLst/>
          </a:prstGeom>
          <a:solidFill>
            <a:srgbClr val="2E7CB5"/>
          </a:solidFill>
          <a:ln w="12700">
            <a:solidFill>
              <a:srgbClr val="2E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987552" y="777240"/>
            <a:ext cx="685800" cy="685800"/>
          </a:xfrm>
          <a:prstGeom prst="ellipse">
            <a:avLst/>
          </a:prstGeom>
          <a:solidFill>
            <a:srgbClr val="2E7CB5"/>
          </a:solidFill>
          <a:ln w="12700">
            <a:solidFill>
              <a:srgbClr val="2E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87552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920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4 843 voitures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2402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features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560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87168" y="914400"/>
            <a:ext cx="20299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487168" y="914400"/>
            <a:ext cx="2029968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154680" y="777240"/>
            <a:ext cx="685800" cy="6858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15468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578608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78608" y="1920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78608" y="22402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78608" y="2560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54296" y="914400"/>
            <a:ext cx="20299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654296" y="914400"/>
            <a:ext cx="2029968" cy="54864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321808" y="777240"/>
            <a:ext cx="685800" cy="685800"/>
          </a:xfrm>
          <a:prstGeom prst="ellipse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321808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745736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45736" y="1920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45736" y="22402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n=200 arbres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45736" y="2560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depth=4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21424" y="914400"/>
            <a:ext cx="20299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6821424" y="914400"/>
            <a:ext cx="2029968" cy="54864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7488936" y="777240"/>
            <a:ext cx="685800" cy="68580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488936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912864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12864" y="1920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0.756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12864" y="22402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16 EUR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12864" y="2560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: 969 cars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33101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du modèle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0040" y="3703320"/>
            <a:ext cx="2029968" cy="117043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20040" y="3794760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D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R² = 0.756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320040" y="443484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variance expliquée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87168" y="3703320"/>
            <a:ext cx="2029968" cy="117043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487168" y="3794760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D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RMSE = 16 EUR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2487168" y="443484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moyenne/jour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54296" y="3703320"/>
            <a:ext cx="2029968" cy="117043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654296" y="3794760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 : 3 874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4654296" y="443484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21424" y="3703320"/>
            <a:ext cx="2029968" cy="117043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6821424" y="3794760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: 969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821424" y="443484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déploiement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24912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724912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29768" y="91440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29844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retards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1719072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22376" y="16916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interactives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" y="2194560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22376" y="21671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de seuil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" y="2670048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22376" y="264261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de prix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" y="3145536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22376" y="31181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+ Pandas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9768" y="4343400"/>
            <a:ext cx="2505456" cy="38404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29768" y="434340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72968" y="914400"/>
            <a:ext cx="2724912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D44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172968" y="914400"/>
            <a:ext cx="2724912" cy="658368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282696" y="91440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ML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82696" y="129844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Optimization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1719072"/>
            <a:ext cx="164592" cy="164592"/>
          </a:xfrm>
          <a:prstGeom prst="ellipse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575304" y="16916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37560" y="2194560"/>
            <a:ext cx="164592" cy="164592"/>
          </a:xfrm>
          <a:prstGeom prst="ellipse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575304" y="21671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37560" y="2670048"/>
            <a:ext cx="164592" cy="164592"/>
          </a:xfrm>
          <a:prstGeom prst="ellipse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575304" y="264261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/docs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37560" y="3145536"/>
            <a:ext cx="164592" cy="164592"/>
          </a:xfrm>
          <a:prstGeom prst="ellipse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575304" y="31181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GradientBoosting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82696" y="4343400"/>
            <a:ext cx="2505456" cy="384048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282696" y="434340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25896" y="914400"/>
            <a:ext cx="2724912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CB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025896" y="914400"/>
            <a:ext cx="2724912" cy="658368"/>
          </a:xfrm>
          <a:prstGeom prst="rect">
            <a:avLst/>
          </a:prstGeom>
          <a:solidFill>
            <a:srgbClr val="2E7CB5"/>
          </a:solidFill>
          <a:ln w="12700">
            <a:solidFill>
              <a:srgbClr val="2E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135624" y="91440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35624" y="129844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complet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90488" y="1719072"/>
            <a:ext cx="164592" cy="164592"/>
          </a:xfrm>
          <a:prstGeom prst="ellipse">
            <a:avLst/>
          </a:prstGeom>
          <a:solidFill>
            <a:srgbClr val="2E7CB5"/>
          </a:solidFill>
          <a:ln w="12700">
            <a:solidFill>
              <a:srgbClr val="2E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428232" y="16916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EDA + ML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90488" y="2194560"/>
            <a:ext cx="164592" cy="164592"/>
          </a:xfrm>
          <a:prstGeom prst="ellipse">
            <a:avLst/>
          </a:prstGeom>
          <a:solidFill>
            <a:srgbClr val="2E7CB5"/>
          </a:solidFill>
          <a:ln w="12700">
            <a:solidFill>
              <a:srgbClr val="2E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428232" y="21671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API + Dashboard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90488" y="2670048"/>
            <a:ext cx="164592" cy="164592"/>
          </a:xfrm>
          <a:prstGeom prst="ellipse">
            <a:avLst/>
          </a:prstGeom>
          <a:solidFill>
            <a:srgbClr val="2E7CB5"/>
          </a:solidFill>
          <a:ln w="12700">
            <a:solidFill>
              <a:srgbClr val="2E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428232" y="264261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détaillé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90488" y="3145536"/>
            <a:ext cx="164592" cy="164592"/>
          </a:xfrm>
          <a:prstGeom prst="ellipse">
            <a:avLst/>
          </a:prstGeom>
          <a:solidFill>
            <a:srgbClr val="2E7CB5"/>
          </a:solidFill>
          <a:ln w="12700">
            <a:solidFill>
              <a:srgbClr val="2E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428232" y="31181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135624" y="4343400"/>
            <a:ext cx="2505456" cy="384048"/>
          </a:xfrm>
          <a:prstGeom prst="rect">
            <a:avLst/>
          </a:prstGeom>
          <a:solidFill>
            <a:srgbClr val="2E7CB5"/>
          </a:solidFill>
          <a:ln w="12700">
            <a:solidFill>
              <a:srgbClr val="2E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135624" y="434340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7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github.com/marinedde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: API FastAPI /predict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029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POST /predict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754880" cy="263347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66928" y="1481328"/>
            <a:ext cx="457200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"https://marineddegetaround-api.hf.space/predict"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'{"input": [{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"model_key": "Renault",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"mileage": 50000,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"engine_power": 120,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"fuel": "diesel",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"car_type": "sedan",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}]}'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JSON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4754880" cy="320040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66928" y="444398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{"prediction": [147.9]}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914400"/>
            <a:ext cx="3200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623560" y="914400"/>
            <a:ext cx="32004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806440" y="107899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disponibles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06440" y="1508760"/>
            <a:ext cx="566928" cy="2560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806440" y="150876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17830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06440" y="2167128"/>
            <a:ext cx="566928" cy="256032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806440" y="216712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2167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24414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prix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2825496"/>
            <a:ext cx="566928" cy="2560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806440" y="282549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46520" y="28254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309981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3483864"/>
            <a:ext cx="566928" cy="2560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806440" y="348386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/redoc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06440" y="375818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ReDoc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tAround Pricing API - Swagger UI - 13 June 2026">
            <a:hlinkClick r:id="" action="ppaction://media"/>
            <a:extLst>
              <a:ext uri="{FF2B5EF4-FFF2-40B4-BE49-F238E27FC236}">
                <a16:creationId xmlns:a16="http://schemas.microsoft.com/office/drawing/2014/main" id="{1C0C1D2D-5045-4716-C36E-343E27880D3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88" y="4763"/>
            <a:ext cx="914400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6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03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du projet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54864" cy="146304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4632" y="9692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retard partielles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" y="135331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délais entre locations enchaînées ne représentent que 11.8% du dataset. La majorité des locations n'a pas de contexte de retard mesurable.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96112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09160" y="896112"/>
            <a:ext cx="54864" cy="14630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73752" y="9692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choisi empiriquement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73752" y="135331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recommandation de 120 min repose sur un trade-off données/revenus, pas sur un modèle causal. D'autres seuils pourraient être testés avec plus de données temporelles.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487168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2487168"/>
            <a:ext cx="54864" cy="1463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4632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pricing non causal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" y="294436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 prédit les prix existants — il n'optimise pas le prix 'idéal' du marché. Un modèle de pricing dynamique nécessiterait des données de demande.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487168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709160" y="2487168"/>
            <a:ext cx="54864" cy="1463040"/>
          </a:xfrm>
          <a:prstGeom prst="rect">
            <a:avLst/>
          </a:prstGeom>
          <a:solidFill>
            <a:srgbClr val="2E7CB5"/>
          </a:solidFill>
          <a:ln w="12700">
            <a:solidFill>
              <a:srgbClr val="2E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73752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données utilisateurs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73752" y="294436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comportement de réservation, ni historique propriétaire, ni saisonnalité ne sont disponibles. Ces facteurs influencent pourtant fortement le pricing réel.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078224"/>
            <a:ext cx="4160520" cy="10652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" y="4078224"/>
            <a:ext cx="54864" cy="106527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4632" y="41513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de 16€ encore élevé sur certains segments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4632" y="4535424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voitures premium (&gt;200€/jour), une erreur de 16€ représente &lt;8% — acceptable. Mais pour les voitures à 50-80€/jour, 16€ d'erreur représente 20-30%, ce qui est significatif.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4078224"/>
            <a:ext cx="4160520" cy="10652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09160" y="4078224"/>
            <a:ext cx="73152" cy="106527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73752" y="41513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API non implémentée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73752" y="4535424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pédagogique : l'API ne comporte pas d'authentification, pas de rate limiting, pas de validation avancée des inputs. En production réelle, ces couches seraient indispensables.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Livrables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54864" cy="7772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092440" y="1188720"/>
            <a:ext cx="347472" cy="3474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092440" y="1188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0607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38988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retards — 4 pages interactives — déployé sur HuggingFace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883664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1883664"/>
            <a:ext cx="54864" cy="77724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8092440" y="2084832"/>
            <a:ext cx="347472" cy="3474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092440" y="2084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19568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/predict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2860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R²=0.756 — RMSE=16 EUR — endpoint opérationnel en production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779776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65760" y="2779776"/>
            <a:ext cx="54864" cy="777240"/>
          </a:xfrm>
          <a:prstGeom prst="rect">
            <a:avLst/>
          </a:prstGeom>
          <a:solidFill>
            <a:srgbClr val="2E7CB5"/>
          </a:solidFill>
          <a:ln w="12700">
            <a:solidFill>
              <a:srgbClr val="2E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8092440" y="2980944"/>
            <a:ext cx="347472" cy="3474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092440" y="2980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28529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/docs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18211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accessible en ligne — exemples curl inclus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67588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3675888"/>
            <a:ext cx="54864" cy="777240"/>
          </a:xfrm>
          <a:prstGeom prst="rect">
            <a:avLst/>
          </a:prstGeom>
          <a:solidFill>
            <a:srgbClr val="0F2138"/>
          </a:solidFill>
          <a:ln w="12700">
            <a:solidFill>
              <a:srgbClr val="0F21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8092440" y="3877056"/>
            <a:ext cx="347472" cy="3474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8092440" y="3877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07822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complet — README détaillé — notebook EDA + ML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·  Jedha Bootcamp CDSD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1263</Words>
  <Application>Microsoft Macintosh PowerPoint</Application>
  <PresentationFormat>Affichage à l'écran (16:9)</PresentationFormat>
  <Paragraphs>297</Paragraphs>
  <Slides>13</Slides>
  <Notes>12</Notes>
  <HiddenSlides>0</HiddenSlides>
  <MMClips>1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GetAround - Analyse des retards &amp; Pricing</dc:title>
  <dc:subject>PptxGenJS Presentation</dc:subject>
  <dc:creator>Marine Deldicque</dc:creator>
  <cp:lastModifiedBy>Marine deldicque</cp:lastModifiedBy>
  <cp:revision>3</cp:revision>
  <dcterms:created xsi:type="dcterms:W3CDTF">2026-05-06T08:23:31Z</dcterms:created>
  <dcterms:modified xsi:type="dcterms:W3CDTF">2026-06-12T23:26:10Z</dcterms:modified>
</cp:coreProperties>
</file>