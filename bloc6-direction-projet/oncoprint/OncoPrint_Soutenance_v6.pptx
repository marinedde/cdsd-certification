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92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7986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OncoPrint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381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Chaque tumeur parle. OncoPrint traduit.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Marine Deldicque  ·  CDSD Jedha 2026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286000" cy="14630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7377"/>
                </a:solidFill>
              </a:rPr>
              <a:t>2,3M</a:t>
            </a:r>
            <a:endParaRPr lang="en-US" sz="3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nouveaux cas / an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017520" y="914400"/>
            <a:ext cx="5760720" cy="1463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017520" y="914400"/>
            <a:ext cx="54864" cy="14630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91840" y="9601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</a:rPr>
              <a:t>Le cancer du sein est le plus meurtrier chez la femme. Chaque tumeur cache des milliers de données génomiques. Peut-on lire dans les gènes d'une tumeur pour mieux la soigner 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160020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« Infirmière libérale, j'ai soigné des patientes. Deux patientes, même diagnostic : des traitements radicalement différents. Cette question m'a conduite vers la data science. »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2560320" cy="12801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196F3"/>
                </a:solidFill>
              </a:rPr>
              <a:t>4</a:t>
            </a:r>
            <a:endParaRPr lang="en-US" sz="3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sous-types</a:t>
            </a:r>
            <a:endParaRPr lang="en-US" sz="3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distincts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337560" y="2743200"/>
            <a:ext cx="2560320" cy="12801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337560" y="278892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7377"/>
                </a:solidFill>
              </a:rPr>
              <a:t>1 936</a:t>
            </a:r>
            <a:endParaRPr lang="en-US" sz="3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variables</a:t>
            </a:r>
            <a:endParaRPr lang="en-US" sz="3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/ tumeur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17920" y="2743200"/>
            <a:ext cx="2560320" cy="12801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217920" y="278892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9800"/>
                </a:solidFill>
              </a:rPr>
              <a:t>580</a:t>
            </a:r>
            <a:endParaRPr lang="en-US" sz="3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patientes</a:t>
            </a:r>
            <a:endParaRPr lang="en-US" sz="3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étudiées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problème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Le cancer du sein, ce n'est pas une seule maladie.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4 sous-types biologiquement distincts. Le traitement dépend du sous-type, pas de la localisation.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2011680" cy="1371600"/>
          </a:xfrm>
          <a:prstGeom prst="rect">
            <a:avLst/>
          </a:prstGeom>
          <a:solidFill>
            <a:srgbClr val="F0F4F8"/>
          </a:solidFill>
          <a:ln w="254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011680" cy="32004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Luminal 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1488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Hormonothérapie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1691640"/>
            <a:ext cx="2011680" cy="1371600"/>
          </a:xfrm>
          <a:prstGeom prst="rect">
            <a:avLst/>
          </a:prstGeom>
          <a:solidFill>
            <a:srgbClr val="F0F4F8"/>
          </a:solidFill>
          <a:ln w="254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468880" y="1691640"/>
            <a:ext cx="2011680" cy="320040"/>
          </a:xfrm>
          <a:prstGeom prst="rect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468880" y="1691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Triple Négatif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1488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Chimiothérapie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691640"/>
            <a:ext cx="2011680" cy="1371600"/>
          </a:xfrm>
          <a:prstGeom prst="rect">
            <a:avLst/>
          </a:prstGeom>
          <a:solidFill>
            <a:srgbClr val="F0F4F8"/>
          </a:solidFill>
          <a:ln w="254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2011680" cy="32004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663440" y="1691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HER2-enriched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1488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Herceptin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1691640"/>
            <a:ext cx="2011680" cy="1371600"/>
          </a:xfrm>
          <a:prstGeom prst="rect">
            <a:avLst/>
          </a:prstGeom>
          <a:solidFill>
            <a:srgbClr val="F0F4F8"/>
          </a:solidFill>
          <a:ln w="254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858000" y="1691640"/>
            <a:ext cx="2011680" cy="32004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858000" y="1691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Luminal 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1488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Hormo + anti-HER2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291840"/>
            <a:ext cx="8595360" cy="4572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Même organe. Même mot : cancer du sein. Quatre maladies. Quatre traitements.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D7377"/>
                </a:solidFill>
              </a:rPr>
              <a:t>Aujourd'hui, identifier le bon sous-type repose sur une biopsie et des examens longs et coûteux.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0D7377"/>
                </a:solidFill>
              </a:rPr>
              <a:t>OncoPrint explore si les données génomiques peuvent accélérer et objectiver cette décision.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données : TCGA-BRCA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The Cancer Genome Atlas, programme public du NIH. Profils génomiques complets.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4748B"/>
                </a:solidFill>
              </a:rPr>
              <a:t>705</a:t>
            </a:r>
            <a:endParaRPr lang="en-US" sz="26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patientes</a:t>
            </a:r>
            <a:endParaRPr lang="en-US" sz="26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initiales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468880" y="1188720"/>
            <a:ext cx="201168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468880" y="11887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7377"/>
                </a:solidFill>
              </a:rPr>
              <a:t>580</a:t>
            </a:r>
            <a:endParaRPr lang="en-US" sz="26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après</a:t>
            </a:r>
            <a:endParaRPr lang="en-US" sz="26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nettoyage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201168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663440" y="11887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96F3"/>
                </a:solidFill>
              </a:rPr>
              <a:t>1 936</a:t>
            </a:r>
            <a:endParaRPr lang="en-US" sz="26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variables</a:t>
            </a:r>
            <a:endParaRPr lang="en-US" sz="26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/ patiente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858000" y="1188720"/>
            <a:ext cx="201168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858000" y="11887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9800"/>
                </a:solidFill>
              </a:rPr>
              <a:t>4</a:t>
            </a:r>
            <a:endParaRPr lang="en-US" sz="26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sous-types</a:t>
            </a:r>
            <a:endParaRPr lang="en-US" sz="26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cibles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4 types de données combinées pour chaque patiente 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109728" cy="365760"/>
          </a:xfrm>
          <a:prstGeom prst="rect">
            <a:avLst/>
          </a:prstGeom>
          <a:solidFill>
            <a:srgbClr val="7C8D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3152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8DB5"/>
                </a:solidFill>
              </a:rPr>
              <a:t>Mutations (249)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2788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Altérations de l'ADN : ex. TP53, PIK3CA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109728" cy="36576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3152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96F3"/>
                </a:solidFill>
              </a:rPr>
              <a:t>Copy Number (860)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3246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Amplifications et délétions de gènes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109728" cy="36576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3152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</a:rPr>
              <a:t>RNA-seq (604)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3703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Expression des gènes : ce que la cellule produit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109728" cy="36576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731520" y="4160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1FA2"/>
                </a:solidFill>
              </a:rPr>
              <a:t>Phospho-protéines (223)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4160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Activation des protéines : ce que la cellule fait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Source : NCI/NIH, données publiques de recherche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qu'on a construit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554480" cy="10972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914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Données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TCGA-BRCA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828800" y="1051560"/>
            <a:ext cx="228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377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057400" y="868680"/>
            <a:ext cx="1554480" cy="10972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9144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57400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Nettoyage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&amp; Prep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611880" y="1051560"/>
            <a:ext cx="228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377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3840480" y="868680"/>
            <a:ext cx="1554480" cy="10972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9144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40480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Modèle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XGBoost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394960" y="1051560"/>
            <a:ext cx="228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377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5623560" y="868680"/>
            <a:ext cx="1554480" cy="10972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9144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23560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FastAPI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7178040" y="1051560"/>
            <a:ext cx="228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377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7406640" y="868680"/>
            <a:ext cx="1554480" cy="10972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0" y="91440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06640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Streamlit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3 choix techniques qui comptent :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57200" y="2606040"/>
            <a:ext cx="411480" cy="4114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18"/>
          <p:cNvSpPr/>
          <p:nvPr/>
        </p:nvSpPr>
        <p:spPr>
          <a:xfrm>
            <a:off x="45720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1051560" y="2606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SMOTE corrigé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2926080" y="260604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Rééquilibrage des classes </a:t>
            </a:r>
            <a:r>
              <a:rPr lang="en-US" sz="1000" dirty="0" err="1">
                <a:solidFill>
                  <a:srgbClr val="64748B"/>
                </a:solidFill>
              </a:rPr>
              <a:t>rares</a:t>
            </a:r>
            <a:r>
              <a:rPr lang="en-US" sz="1000" dirty="0">
                <a:solidFill>
                  <a:srgbClr val="64748B"/>
                </a:solidFill>
              </a:rPr>
              <a:t>, appliqué uniquement sur le train. Data leakage détectée et corrigée (CV 96% → 68%).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57200" y="3383280"/>
            <a:ext cx="411480" cy="4114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2"/>
          <p:cNvSpPr/>
          <p:nvPr/>
        </p:nvSpPr>
        <p:spPr>
          <a:xfrm>
            <a:off x="45720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1051560" y="3383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XGBoost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2926080" y="338328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Testé contre RF et Logistic Regression. Le plus performant sur données tabulaires haute dimension.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457200" y="4160520"/>
            <a:ext cx="411480" cy="4114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26"/>
          <p:cNvSpPr/>
          <p:nvPr/>
        </p:nvSpPr>
        <p:spPr>
          <a:xfrm>
            <a:off x="45720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105156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Déployé complet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2926080" y="416052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API + dashboard + Docker + IA générative. Un outil utilisable, pas juste un notebook.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Résultats : et comment aller plus loin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65176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7377"/>
                </a:solidFill>
              </a:rPr>
              <a:t>79%</a:t>
            </a:r>
            <a:endParaRPr lang="en-US" sz="32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Précision globale</a:t>
            </a:r>
            <a:endParaRPr lang="en-US" sz="3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+33% vs aléatoire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0" y="822960"/>
            <a:ext cx="265176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0" y="82296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196F3"/>
                </a:solidFill>
              </a:rPr>
              <a:t>75%</a:t>
            </a:r>
            <a:endParaRPr lang="en-US" sz="32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F1 Macro</a:t>
            </a:r>
            <a:endParaRPr lang="en-US" sz="3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sur 4 sous-types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126480" y="822960"/>
            <a:ext cx="2651760" cy="10058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126480" y="82296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9800"/>
                </a:solidFill>
              </a:rPr>
              <a:t>68%</a:t>
            </a:r>
            <a:endParaRPr lang="en-US" sz="32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Validation croisée</a:t>
            </a:r>
            <a:endParaRPr lang="en-US" sz="3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corrigée ±2.9%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8595360" cy="438912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73152" cy="438912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48640" y="20116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96F3"/>
                </a:solidFill>
              </a:rPr>
              <a:t>Luminal 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0116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F1 = 0.86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01168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Classe majoritaire, bien classée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514600"/>
            <a:ext cx="8595360" cy="438912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74320" y="2514600"/>
            <a:ext cx="73152" cy="438912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8640" y="25146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</a:rPr>
              <a:t>HER2-enriched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251460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F1 = 1.00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251460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100% recall (n=6, fragile)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8595360" cy="438912"/>
          </a:xfrm>
          <a:prstGeom prst="rect">
            <a:avLst/>
          </a:prstGeom>
          <a:solidFill>
            <a:srgbClr val="FCE4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74320" y="3017520"/>
            <a:ext cx="73152" cy="438912"/>
          </a:xfrm>
          <a:prstGeom prst="rect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48640" y="301752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1E63"/>
                </a:solidFill>
              </a:rPr>
              <a:t>Triple Négatif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0" y="301752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F1 = 0.70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301752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Bien identifié, recall à améliorer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520440"/>
            <a:ext cx="8595360" cy="43891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274320" y="3520440"/>
            <a:ext cx="73152" cy="43891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48640" y="35204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F50"/>
                </a:solidFill>
              </a:rPr>
              <a:t>Luminal B / HER2+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17520" y="35204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F1 = 0.43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0" y="352044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Sous-type hétérogène — le plus difficile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solidFill>
            <a:srgbClr val="FFF8E1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79%, est-ce suffisant en médecine 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En médecine, on vise 90%+. Pour y arriver : plus de données (multi-centres)  ·  ajouter Ki67, stade, âge  ·  cohorte externe indépendante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le modèle a appris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Le modèle identifie les signaux biologiques clés 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7377"/>
                </a:solidFill>
              </a:rPr>
              <a:t>Ces signaux correspondent exactement à ceux que les médecins utilisent depuis des décennies.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5212080" cy="594360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73152" cy="59436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96F3"/>
                </a:solidFill>
              </a:rPr>
              <a:t>Luminal 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Récepteur oestrogène activé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0" y="14630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</a:rPr>
              <a:t>→ cible de l'hormonothérapie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48840"/>
            <a:ext cx="5212080" cy="594360"/>
          </a:xfrm>
          <a:prstGeom prst="rect">
            <a:avLst/>
          </a:prstGeom>
          <a:solidFill>
            <a:srgbClr val="FCE4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73152" cy="594360"/>
          </a:xfrm>
          <a:prstGeom prst="rect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02920" y="2148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1E63"/>
                </a:solidFill>
              </a:rPr>
              <a:t>Triple Négatif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Absence de récepteurs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0" y="21488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1E63"/>
                </a:solidFill>
              </a:rPr>
              <a:t>→ aucun traitement ciblé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5212080" cy="59436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73152" cy="59436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" y="2834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</a:rPr>
              <a:t>HER2-enriched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108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HER2 fortement activé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0" y="28346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800"/>
                </a:solidFill>
              </a:rPr>
              <a:t>→ cible directe de l'Herceptin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520440"/>
            <a:ext cx="5212080" cy="5943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274320" y="3520440"/>
            <a:ext cx="73152" cy="59436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02920" y="3520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F50"/>
                </a:solidFill>
              </a:rPr>
              <a:t>Luminal 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7947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Amplification génomique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0" y="35204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</a:rPr>
              <a:t>→ sous-type agressif connu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60720" y="777240"/>
            <a:ext cx="3108960" cy="35661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760720" y="822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7377"/>
                </a:solidFill>
              </a:rPr>
              <a:t>Exemple concret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0" y="1188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Profil d'entrée 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0" y="14630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Récepteur oestrogène : élevé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Récepteur progestérone : élevé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HER2 : absent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Marqueurs basaux : bas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2651760"/>
            <a:ext cx="25603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943600" y="2743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Prédiction 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0" y="3063240"/>
            <a:ext cx="2743200" cy="45720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94360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Luminal A : 94%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943600" y="36118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7377"/>
                </a:solidFill>
              </a:rPr>
              <a:t>Traitement recommandé 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7377"/>
                </a:solidFill>
              </a:rPr>
              <a:t>Hormonothérapie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297680"/>
            <a:ext cx="8595360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Point clé méthodologique : data leakage détectée (CV 96%) et corrigée via ImbPipeline (CV 68%). La vraie mesure de généralisation, c'est 68% — pas 96%.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demain 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51760" cy="3840480"/>
          </a:xfrm>
          <a:prstGeom prst="rect">
            <a:avLst/>
          </a:prstGeom>
          <a:solidFill>
            <a:srgbClr val="E0F7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651760" cy="4114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Pour la patiente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 Comprendre son sous-type en langage simple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 Accompagnement personnalisé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834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 Mieux préparer la consultation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35204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 Ressources adaptées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868680"/>
            <a:ext cx="2651760" cy="384048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00400" y="868680"/>
            <a:ext cx="2651760" cy="41148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200400" y="868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Médecins &amp; Recherche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4630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 Rapport structuré pour l'oncologue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148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 Étendre à d'autres cancers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2834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 Ajouter Ki67, stade, âge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35204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 Cohorte externe : viser 90%+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868680"/>
            <a:ext cx="2651760" cy="3840480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126480" y="868680"/>
            <a:ext cx="2651760" cy="41148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126480" y="868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Pour l'outil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4630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 Infrastructure robuste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2148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 Analyse batch multi-patientes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2834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 Améliorer Luminal 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35204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 OncoPrint v2.0 générique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du modèle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Un regard honnête sur ce que le modèle ne peut pas (encore) faire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6187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188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Dataset TCGA uniquement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0" y="1092708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Données d'un seul </a:t>
            </a:r>
            <a:r>
              <a:rPr lang="en-US" sz="1000" dirty="0" err="1">
                <a:solidFill>
                  <a:srgbClr val="64748B"/>
                </a:solidFill>
              </a:rPr>
              <a:t>programme</a:t>
            </a:r>
            <a:r>
              <a:rPr lang="en-US" sz="1000" dirty="0">
                <a:solidFill>
                  <a:srgbClr val="64748B"/>
                </a:solidFill>
              </a:rPr>
              <a:t>, biais de sélection possible, pas représentatif de toutes les populations.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75104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9019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Pas de validation externe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200400" y="1818471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Performances réelles en conditions cliniques inconnues. Nécessite cohorte indépendante (ex. METABRIC).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8833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26151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Luminal B difficile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3200400" y="2522051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F1 = 0.43, sous-type biologiquement hétérogène, 12 patientes test. Point faible assumé.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01568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8680" y="33284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Variables cliniques absentes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3200400" y="3191256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Âge, stade TNM, Ki67 non intégrés. Informations cruciales pour le pronostic.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8680" y="40416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Survie simulée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3200400" y="393192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Colonnes OS absentes du dataset Kaggle. Distributions calibrées sur la littérature (Koboldt 2012).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Ce projet est un prototype de recherche, pas un outil médical validé.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 d'usage : à quoi ça sert concrètement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8686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3327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Aide à la décision médicale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" y="123444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Support structuré pour l'oncologue : prédiction du sous-type, biomarqueurs clés, niveau de confiance. Encadré par le praticien.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4320" y="1874520"/>
            <a:ext cx="8595360" cy="8686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39112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Recherche &amp; analyse de cohortes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43000" y="224028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Traitement rapide de plusieurs profils pour comparer des groupes, identifier des patterns génomiques, tester des hypothèses.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2880360"/>
            <a:ext cx="8595360" cy="8686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44952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Outil pédagogique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43000" y="324612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Former des data scientists à la santé ou des médecins à l'IA : comprendre comment un modèle lit un profil génomique.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274320" y="3886200"/>
            <a:ext cx="8595360" cy="8686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050792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Base pour outils medtech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43000" y="425196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OncoPrint v1 est le point de départ d'un framework générique. Extensible à d'autres cancers, d'autres données.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Peut-on lire dans les gènes d'une tumeur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mieux la soigner 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7377"/>
                </a:solidFill>
              </a:rPr>
              <a:t>Oui, et voici ce qu'OncoPrint permet de faire 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874520"/>
            <a:ext cx="274320" cy="2743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8745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Identifier le sous-type tumoral à partir de données </a:t>
            </a:r>
            <a:r>
              <a:rPr lang="en-US" sz="1200" dirty="0" err="1">
                <a:solidFill>
                  <a:srgbClr val="FFFFFF"/>
                </a:solidFill>
              </a:rPr>
              <a:t>génomiques</a:t>
            </a:r>
            <a:r>
              <a:rPr lang="en-US" sz="1200" dirty="0">
                <a:solidFill>
                  <a:srgbClr val="FFFFFF"/>
                </a:solidFill>
              </a:rPr>
              <a:t> : 79% de précision sur 4 classes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377440"/>
            <a:ext cx="274320" cy="2743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Comprendre pourquoi : biomarqueurs cohérents avec la biologie connue (SHAP)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880360"/>
            <a:ext cx="274320" cy="2743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8803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Estimer le pronostic : médiane de survie et risque relatif par sous-type (Kaplan-Meier + Cox)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383280"/>
            <a:ext cx="274320" cy="2743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91440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3832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Générer un rapport adapté : clinicien, chercheur </a:t>
            </a:r>
            <a:r>
              <a:rPr lang="en-US" sz="1200" dirty="0" err="1">
                <a:solidFill>
                  <a:srgbClr val="FFFFFF"/>
                </a:solidFill>
              </a:rPr>
              <a:t>ou</a:t>
            </a:r>
            <a:r>
              <a:rPr lang="en-US" sz="1200" dirty="0">
                <a:solidFill>
                  <a:srgbClr val="FFFFFF"/>
                </a:solidFill>
              </a:rPr>
              <a:t> </a:t>
            </a:r>
            <a:r>
              <a:rPr lang="en-US" sz="1200" dirty="0" err="1">
                <a:solidFill>
                  <a:srgbClr val="FFFFFF"/>
                </a:solidFill>
              </a:rPr>
              <a:t>patiente</a:t>
            </a:r>
            <a:r>
              <a:rPr lang="en-US" sz="1200" dirty="0">
                <a:solidFill>
                  <a:srgbClr val="FFFFFF"/>
                </a:solidFill>
              </a:rPr>
              <a:t>, via IA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886200"/>
            <a:ext cx="274320" cy="2743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914400" y="3886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8862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Aller plus loin : plus de données · Ki67 &amp; stade · cohorte externe · OncoPrint v2.0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1376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OncoPrint ne remplace pas le médecin. Il transforme des milliers de données invisibles en information compréhensible.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4526280"/>
            <a:ext cx="274320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Chaque tumeur parle. OncoPrint traduit.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bleau de bord OncoPrint - un espace convivial par marinedde - 13 June 2026">
            <a:hlinkClick r:id="" action="ppaction://media"/>
            <a:extLst>
              <a:ext uri="{FF2B5EF4-FFF2-40B4-BE49-F238E27FC236}">
                <a16:creationId xmlns:a16="http://schemas.microsoft.com/office/drawing/2014/main" id="{9E24C2B3-2E0E-FEE6-8C77-9112B6B7DB5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88" y="4763"/>
            <a:ext cx="9144000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066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25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1087</Words>
  <Application>Microsoft Macintosh PowerPoint</Application>
  <PresentationFormat>Affichage à l'écran (16:9)</PresentationFormat>
  <Paragraphs>205</Paragraphs>
  <Slides>12</Slides>
  <Notes>11</Notes>
  <HiddenSlides>0</HiddenSlides>
  <MMClips>1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OncoPrint — Classification Moléculaire du Cancer du Sein</dc:title>
  <dc:subject>PptxGenJS Presentation</dc:subject>
  <dc:creator>Marine Deldicque</dc:creator>
  <cp:lastModifiedBy>Marine deldicque</cp:lastModifiedBy>
  <cp:revision>3</cp:revision>
  <dcterms:created xsi:type="dcterms:W3CDTF">2026-06-03T09:19:52Z</dcterms:created>
  <dcterms:modified xsi:type="dcterms:W3CDTF">2026-06-13T01:35:47Z</dcterms:modified>
</cp:coreProperties>
</file>