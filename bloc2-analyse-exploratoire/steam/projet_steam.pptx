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712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2867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kern="0" spc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T E A 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Analyse de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l'écosystème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 jeu vidéo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des données Steam · 27 075 jeux analysés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37033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27 075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422452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jeux analysés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651760" y="37033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651760" y="422452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colonnes de données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00600" y="37033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800600" y="422452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niveaux d'analyse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949440" y="37033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949440" y="422452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exclusifs Windows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Marine DELDICQUE - Projet Jedha · Bloc Big Data · PySpark · Databricks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2803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CONTEXTE &amp; PROBLÉMATIQUE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0" y="482803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4206240" cy="3108960"/>
          </a:xfrm>
          <a:prstGeom prst="rect">
            <a:avLst/>
          </a:prstGeom>
          <a:solidFill>
            <a:srgbClr val="1A2B4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38404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travaille pour Ubisoft, éditeur français de jeux vidéo.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Ubisoft prépare un nouveau jeu révolutionnaire et a besoin d'analyser l'écosystème Steam pour identifier les tendances du marché.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54880" y="868680"/>
            <a:ext cx="4023360" cy="3108960"/>
          </a:xfrm>
          <a:prstGeom prst="rect">
            <a:avLst/>
          </a:prstGeom>
          <a:solidFill>
            <a:srgbClr val="1A2B4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937760" y="960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axes d'analyse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937760" y="1417320"/>
            <a:ext cx="3566160" cy="640080"/>
          </a:xfrm>
          <a:prstGeom prst="rect">
            <a:avLst/>
          </a:prstGeom>
          <a:solidFill>
            <a:srgbClr val="162033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937760" y="1417320"/>
            <a:ext cx="475488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937760" y="1417320"/>
            <a:ext cx="4754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49824" y="1463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49824" y="17373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Éditeurs, prix, sorties par année, âge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37760" y="2221992"/>
            <a:ext cx="3566160" cy="640080"/>
          </a:xfrm>
          <a:prstGeom prst="rect">
            <a:avLst/>
          </a:prstGeom>
          <a:solidFill>
            <a:srgbClr val="162033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4937760" y="2221992"/>
            <a:ext cx="475488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937760" y="2221992"/>
            <a:ext cx="4754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49824" y="226771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49824" y="25420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Popularité, ratio avis, rentabilité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37760" y="3026664"/>
            <a:ext cx="3566160" cy="640080"/>
          </a:xfrm>
          <a:prstGeom prst="rect">
            <a:avLst/>
          </a:prstGeom>
          <a:solidFill>
            <a:srgbClr val="162033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4937760" y="3026664"/>
            <a:ext cx="475488" cy="64008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937760" y="3026664"/>
            <a:ext cx="4754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49824" y="307238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49824" y="334670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/ Mac / Linux — disponibilité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PIPELINE TECHNIQUE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0" y="482803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737360" y="1965960"/>
            <a:ext cx="292608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84632" y="960120"/>
            <a:ext cx="1097280" cy="10972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84632" y="9601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20040" y="214884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51460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Kaggle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steam.csv · 27K jeux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47288" y="1965960"/>
            <a:ext cx="292608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2194560" y="960120"/>
            <a:ext cx="1097280" cy="10972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2194560" y="9601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029968" y="214884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29968" y="251460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Volume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157216" y="1965960"/>
            <a:ext cx="292608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3904488" y="960120"/>
            <a:ext cx="1097280" cy="109728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904488" y="9601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739896" y="214884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739896" y="251460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spark.read.csv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InferSchema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67144" y="1965960"/>
            <a:ext cx="292608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5614416" y="960120"/>
            <a:ext cx="1097280" cy="1097280"/>
          </a:xfrm>
          <a:prstGeom prst="ellipse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614416" y="9601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5449824" y="214884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49824" y="251460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explode / groupBy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324344" y="960120"/>
            <a:ext cx="1097280" cy="1097280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7324344" y="9601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7159752" y="214884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59752" y="251460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65760" y="33101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utilisées :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3657600"/>
            <a:ext cx="2606040" cy="347472"/>
          </a:xfrm>
          <a:prstGeom prst="rect">
            <a:avLst/>
          </a:prstGeom>
          <a:solidFill>
            <a:srgbClr val="1A2B4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75488" y="3657600"/>
            <a:ext cx="2386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 3.4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0" y="3657600"/>
            <a:ext cx="2606040" cy="347472"/>
          </a:xfrm>
          <a:prstGeom prst="rect">
            <a:avLst/>
          </a:prstGeom>
          <a:solidFill>
            <a:srgbClr val="1A2B4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3310128" y="3657600"/>
            <a:ext cx="2386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SQL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035040" y="3657600"/>
            <a:ext cx="2606040" cy="347472"/>
          </a:xfrm>
          <a:prstGeom prst="rect">
            <a:avLst/>
          </a:prstGeom>
          <a:solidFill>
            <a:srgbClr val="1A2B4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6144768" y="3657600"/>
            <a:ext cx="2386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Serverless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4133088"/>
            <a:ext cx="2606040" cy="347472"/>
          </a:xfrm>
          <a:prstGeom prst="rect">
            <a:avLst/>
          </a:prstGeom>
          <a:solidFill>
            <a:srgbClr val="1A2B4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475488" y="4133088"/>
            <a:ext cx="2386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00400" y="4133088"/>
            <a:ext cx="2606040" cy="347472"/>
          </a:xfrm>
          <a:prstGeom prst="rect">
            <a:avLst/>
          </a:prstGeom>
          <a:solidFill>
            <a:srgbClr val="1A2B4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3310128" y="4133088"/>
            <a:ext cx="2386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035040" y="4133088"/>
            <a:ext cx="2606040" cy="347472"/>
          </a:xfrm>
          <a:prstGeom prst="rect">
            <a:avLst/>
          </a:prstGeom>
          <a:solidFill>
            <a:srgbClr val="1A2B4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6144768" y="4133088"/>
            <a:ext cx="2386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ANALYSE MACRO : Vue d'ensemble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4160520" cy="1783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éditeur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Big Fish Games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02920" y="2194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212 jeux publiés sur Steam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868680"/>
            <a:ext cx="4160520" cy="1783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892040" y="9601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DD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 de sorties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128016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2017–2018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892040" y="2194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8 160 sorties en 2018 (record)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880360"/>
            <a:ext cx="4160520" cy="1783080"/>
          </a:xfrm>
          <a:prstGeom prst="rect">
            <a:avLst/>
          </a:prstGeom>
          <a:solidFill>
            <a:srgbClr val="1A0D3B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02920" y="29718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dominant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29184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5€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502920" y="42062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54% des jeux payants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2880360"/>
            <a:ext cx="4160520" cy="1783080"/>
          </a:xfrm>
          <a:prstGeom prst="rect">
            <a:avLst/>
          </a:prstGeom>
          <a:solidFill>
            <a:srgbClr val="4A148C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892040" y="29718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 adulte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329184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2%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4892040" y="42062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Majorité tout public (97,8%)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4645152"/>
            <a:ext cx="8503920" cy="320040"/>
          </a:xfrm>
          <a:prstGeom prst="rect">
            <a:avLst/>
          </a:prstGeom>
          <a:solidFill>
            <a:srgbClr val="2A2200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11480" y="464515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Le dataset couvre jusqu'en 2019 : impact Covid non mesurable sur ce jeu de données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482803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ANALYSE DES GENRES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783080" y="950976"/>
            <a:ext cx="5029200" cy="2286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1783080" y="950976"/>
            <a:ext cx="5029200" cy="228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6903720" y="86868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19 421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3716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783080" y="1453896"/>
            <a:ext cx="5029200" cy="2286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1783080" y="1453896"/>
            <a:ext cx="3082363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903720" y="137160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11 903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187452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783080" y="1956816"/>
            <a:ext cx="5029200" cy="2286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1783080" y="1956816"/>
            <a:ext cx="2643949" cy="2286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903720" y="18745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10 210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23774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783080" y="2459736"/>
            <a:ext cx="5029200" cy="2286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1783080" y="2459736"/>
            <a:ext cx="2597855" cy="22860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903720" y="237744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10 032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28803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783080" y="2962656"/>
            <a:ext cx="5029200" cy="2286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1783080" y="2962656"/>
            <a:ext cx="1358746" cy="22860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6903720" y="288036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5 247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33832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783080" y="3465576"/>
            <a:ext cx="5029200" cy="2286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1783080" y="3465576"/>
            <a:ext cx="1345022" cy="228600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6903720" y="338328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5 194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38862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783080" y="3968496"/>
            <a:ext cx="5029200" cy="2286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1783080" y="3968496"/>
            <a:ext cx="1116363" cy="228600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6903720" y="388620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4 311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4480560"/>
            <a:ext cx="8412480" cy="502920"/>
          </a:xfrm>
          <a:prstGeom prst="rect">
            <a:avLst/>
          </a:prstGeom>
          <a:solidFill>
            <a:srgbClr val="1A2B4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502920" y="4498848"/>
            <a:ext cx="82296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Indie = 71% du catalogue  |  </a:t>
            </a: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Meilleurs ratios : </a:t>
            </a:r>
            <a:r>
              <a:rPr lang="en-US" sz="10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Illustration (75%)  |  </a:t>
            </a: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Enix → Action &amp; RPG  |  SEGA → Action majoritaire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0" y="482803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ANALYSE DES PLATEFORMES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0" y="482803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2651760" cy="2560320"/>
          </a:xfrm>
          <a:prstGeom prst="rect">
            <a:avLst/>
          </a:prstGeom>
          <a:solidFill>
            <a:srgbClr val="1A2B4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68%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320040" y="2057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exclusifs Windows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45059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18 398 jeux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72968" y="841248"/>
            <a:ext cx="2651760" cy="2560320"/>
          </a:xfrm>
          <a:prstGeom prst="rect">
            <a:avLst/>
          </a:prstGeom>
          <a:solidFill>
            <a:srgbClr val="1A2B4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172968" y="100584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565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17%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3172968" y="2057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multi-plateformes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72968" y="245059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+ Mac + Linux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25896" y="841248"/>
            <a:ext cx="2651760" cy="2560320"/>
          </a:xfrm>
          <a:prstGeom prst="rect">
            <a:avLst/>
          </a:prstGeom>
          <a:solidFill>
            <a:srgbClr val="1A2B40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025896" y="100584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7B1FA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13%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6025896" y="2057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+ Mac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25896" y="245059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support Linux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35478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 par plateforme 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388620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508760" y="3950208"/>
            <a:ext cx="5943600" cy="1828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1508760" y="3950208"/>
            <a:ext cx="5943600" cy="182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7498080" y="388620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27 070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23367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508760" y="4297680"/>
            <a:ext cx="5943600" cy="1828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1508760" y="4297680"/>
            <a:ext cx="1771004" cy="1828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7498080" y="423367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8 066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58114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508760" y="4645152"/>
            <a:ext cx="5943600" cy="1828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1508760" y="4645152"/>
            <a:ext cx="1149418" cy="18288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7498080" y="458114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5 235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RECOMMANDATIONS POUR UBISOFT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4160520" cy="1737360"/>
          </a:xfrm>
          <a:prstGeom prst="rect">
            <a:avLst/>
          </a:prstGeom>
          <a:solidFill>
            <a:srgbClr val="1A2B4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475488" cy="1737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20040" y="822960"/>
            <a:ext cx="47548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9144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Cibler le genre Action-Adventure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298448"/>
            <a:ext cx="347472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+ Adventure = genres les plus populaires après Indie. SEGA, Square Enix et THQ Nordic confirment cette tendance. Idéal pour un AAA Ubisoft.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822960"/>
            <a:ext cx="4160520" cy="1737360"/>
          </a:xfrm>
          <a:prstGeom prst="rect">
            <a:avLst/>
          </a:prstGeom>
          <a:solidFill>
            <a:srgbClr val="1A2B40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709160" y="822960"/>
            <a:ext cx="475488" cy="173736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709160" y="822960"/>
            <a:ext cx="47548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57800" y="9144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entre 10€ et 20€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57800" y="1298448"/>
            <a:ext cx="347472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sweet spot : 10–20€ représente 16% du marché mais concentre les meilleurs ratios d'avis positifs. Les AAA à 60€+ sont rares sur Steam.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743200"/>
            <a:ext cx="4160520" cy="1737360"/>
          </a:xfrm>
          <a:prstGeom prst="rect">
            <a:avLst/>
          </a:prstGeom>
          <a:solidFill>
            <a:srgbClr val="1A2B4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320040" y="2743200"/>
            <a:ext cx="475488" cy="1737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20040" y="2743200"/>
            <a:ext cx="47548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8680" y="283464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multi-plateformes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3218688"/>
            <a:ext cx="347472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Seulement 17% des jeux supportent les 3 plateformes. Cibler Windows + Mac donne accès à 85% du marché.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2743200"/>
            <a:ext cx="4160520" cy="1737360"/>
          </a:xfrm>
          <a:prstGeom prst="rect">
            <a:avLst/>
          </a:prstGeom>
          <a:solidFill>
            <a:srgbClr val="1A2B40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4709160" y="2743200"/>
            <a:ext cx="475488" cy="173736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709160" y="2743200"/>
            <a:ext cx="47548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257800" y="283464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 avant saturation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57800" y="3218688"/>
            <a:ext cx="347472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pic de sorties était en 2018. Le marché se densifie : la qualité et la notoriété (ratio avis &gt;95%) sont des différenciateurs clés.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4572000"/>
            <a:ext cx="8503920" cy="384048"/>
          </a:xfrm>
          <a:prstGeom prst="rect">
            <a:avLst/>
          </a:prstGeom>
          <a:solidFill>
            <a:srgbClr val="1A1A00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11480" y="457200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Note : les métriques citées (popularité, ratio avis, fréquence) sont issues du volume de jeux et d'avis observés sur le dataset Kaggle (jusqu'en 2019).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772400" y="482803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POURQUOI SPARK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0" y="482803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4206240" cy="3931920"/>
          </a:xfrm>
          <a:prstGeom prst="rect">
            <a:avLst/>
          </a:prstGeom>
          <a:solidFill>
            <a:srgbClr val="1A2B4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technologique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38988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Traitement distribué et parallélisé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95681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Scalable sur gros volumes de données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52374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Pipeline cloud intégré (Databricks)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09067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Transformations complexes (explode, groupBy)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6576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Objectif pédagogique : écosystème Big Data réel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4069080"/>
            <a:ext cx="4023360" cy="566928"/>
          </a:xfrm>
          <a:prstGeom prst="rect">
            <a:avLst/>
          </a:prstGeom>
          <a:solidFill>
            <a:srgbClr val="001A1A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02920" y="4087368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si 27K lignes ne l'exigent pas, le but est de montrer la maîtrise d'un pipeline Big Data scalable.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868680"/>
            <a:ext cx="4114800" cy="3931920"/>
          </a:xfrm>
          <a:prstGeom prst="rect">
            <a:avLst/>
          </a:prstGeom>
          <a:solidFill>
            <a:srgbClr val="1A2B4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892040" y="9601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probables du jury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92040" y="13898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Pourquoi Databricks 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1709928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Centralise stockage, traitement distribué et visualisation dans un environnement cloud intégré.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92040" y="24871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Pourquoi Unity Catalog 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2807208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Gestion centralisée des données avec gouvernance et organisation des assets.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92040" y="358444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Pourquoi explode() ?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3904488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Certains jeux ont plusieurs genres dans une colonne. explode() transforme la liste en lignes analytiquement exploitables.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COMPÉTENCES VALIDÉES : Bloc Big Data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0" y="482803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4160520" cy="1810512"/>
          </a:xfrm>
          <a:prstGeom prst="rect">
            <a:avLst/>
          </a:prstGeom>
          <a:solidFill>
            <a:srgbClr val="1A2B4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20040" y="841248"/>
            <a:ext cx="416052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93268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des données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Lecture JSON/CSV avec PySpark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6459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Gestion Unity Catalog / DBFS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9933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Gestion du schéma imbriqué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841248"/>
            <a:ext cx="4160520" cy="1810512"/>
          </a:xfrm>
          <a:prstGeom prst="rect">
            <a:avLst/>
          </a:prstGeom>
          <a:solidFill>
            <a:srgbClr val="1A2B4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709160" y="841248"/>
            <a:ext cx="416052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846320" y="93268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PySpark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2984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explode() sur colonnes multivaluées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16459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groupBy / agg / orderBy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19933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Colonnes dérivées (withColumn)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234086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Fonctions de date (year, month)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2852928"/>
            <a:ext cx="4160520" cy="1810512"/>
          </a:xfrm>
          <a:prstGeom prst="rect">
            <a:avLst/>
          </a:prstGeom>
          <a:solidFill>
            <a:srgbClr val="1A2B40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320040" y="2852928"/>
            <a:ext cx="416052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57200" y="294436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exploratoire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3101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 niveaux d'analyse (EDA)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657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Détection des nulls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0050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Statistiques descriptives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35254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Insights métier actionnables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2852928"/>
            <a:ext cx="4160520" cy="1810512"/>
          </a:xfrm>
          <a:prstGeom prst="rect">
            <a:avLst/>
          </a:prstGeom>
          <a:solidFill>
            <a:srgbClr val="1A2B40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4709160" y="2852928"/>
            <a:ext cx="4160520" cy="54864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846320" y="294436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0" y="33101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Matplotlib intégré Databricks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3657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Bar, horizontal bar, pie charts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40050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Publication notebook public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Marine DELDICQUE - Projet Jedha · Bloc Big Data · PySpark · Databricks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LIMITES DE L'ÉTUDE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0" y="482803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4160520" cy="919819"/>
          </a:xfrm>
          <a:prstGeom prst="rect">
            <a:avLst/>
          </a:prstGeom>
          <a:solidFill>
            <a:srgbClr val="1A2B4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20040" y="841248"/>
            <a:ext cx="54864" cy="919819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84632" y="914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Kaggle non officiel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84632" y="1252728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ne proviennent pas de l'API Steam officielle. Potentielles incomplétudes ou biais dans la collecte.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841248"/>
            <a:ext cx="4160520" cy="914400"/>
          </a:xfrm>
          <a:prstGeom prst="rect">
            <a:avLst/>
          </a:prstGeom>
          <a:solidFill>
            <a:srgbClr val="1A2B40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709160" y="841248"/>
            <a:ext cx="54864" cy="91440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873752" y="914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arrêtées en 2019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73752" y="116128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L'impact de la pandémie Covid (2020+), du boom du gaming en télétravail, et des nouvelles tendances (cloud gaming, Battle Pass) n'est pas mesurable.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1920240"/>
            <a:ext cx="4160520" cy="1112182"/>
          </a:xfrm>
          <a:prstGeom prst="rect">
            <a:avLst/>
          </a:prstGeom>
          <a:solidFill>
            <a:srgbClr val="1A2B4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329184" y="1920240"/>
            <a:ext cx="45720" cy="11018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84632" y="2021417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d'analyse du temps de jeu réel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4632" y="2359745"/>
            <a:ext cx="3840480" cy="5019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dataset ne contient pas les heures jouées. La popularité est mesurée via les avis, pas via l'engagement réel des joueurs.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1920240"/>
            <a:ext cx="4160520" cy="1101852"/>
          </a:xfrm>
          <a:prstGeom prst="rect">
            <a:avLst/>
          </a:prstGeom>
          <a:solidFill>
            <a:srgbClr val="1A2B40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4709160" y="1906525"/>
            <a:ext cx="54864" cy="1125897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869180" y="199059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segmentation géographique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73752" y="2307082"/>
            <a:ext cx="3840480" cy="5796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comportements d'achat varient fortement par région. Les recommandations s'appliquent au marché Steam global, sans distinction pays.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9184" y="3221735"/>
            <a:ext cx="4160520" cy="1481328"/>
          </a:xfrm>
          <a:prstGeom prst="rect">
            <a:avLst/>
          </a:prstGeom>
          <a:solidFill>
            <a:srgbClr val="1A2B40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339344" y="3221735"/>
            <a:ext cx="54864" cy="148132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89204" y="3298107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 ≠ causalité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9891" y="3715849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associations observées (ex: genre vs ratio d'avis) n'impliquent pas de lien causal. D'autres facteurs confondants existent.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3204972"/>
            <a:ext cx="4160520" cy="1481328"/>
          </a:xfrm>
          <a:prstGeom prst="rect">
            <a:avLst/>
          </a:prstGeom>
          <a:solidFill>
            <a:srgbClr val="1A2B40"/>
          </a:solidFill>
          <a:ln w="12700">
            <a:solidFill>
              <a:srgbClr val="F4433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4709160" y="3221735"/>
            <a:ext cx="54864" cy="1481328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892040" y="3283713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Biais des avis Steam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869180" y="368046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avis peuvent être biaisés par le review bombing, les communautés organisées, ou les promotions. Le ratio avis n'est pas une mesure parfaite de qualité.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kern="0" spc="5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O N C L U S I O 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Steam : un marché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aux tendances claires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365760" y="2331720"/>
            <a:ext cx="8412480" cy="548640"/>
          </a:xfrm>
          <a:prstGeom prst="rect">
            <a:avLst/>
          </a:prstGeom>
          <a:solidFill>
            <a:srgbClr val="0A1E35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0292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Le marché a explosé 2014–2018 avec la démocratisation de l'accès indie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990088"/>
            <a:ext cx="8412480" cy="548640"/>
          </a:xfrm>
          <a:prstGeom prst="rect">
            <a:avLst/>
          </a:prstGeom>
          <a:solidFill>
            <a:srgbClr val="0A1E35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02920" y="299008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Action-Adventure + multi-plateforme = combinaison à fort potentiel pour un AAA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3648456"/>
            <a:ext cx="8412480" cy="548640"/>
          </a:xfrm>
          <a:prstGeom prst="rect">
            <a:avLst/>
          </a:prstGeom>
          <a:solidFill>
            <a:srgbClr val="0A1E35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02920" y="3648456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La qualité prime : les jeux avec &gt;97% d'avis positifs deviennent des références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46227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Merci · Questions ?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772400" y="482803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987</Words>
  <Application>Microsoft Macintosh PowerPoint</Application>
  <PresentationFormat>Affichage à l'écran (16:9)</PresentationFormat>
  <Paragraphs>195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Arial</vt:lpstr>
      <vt:lpstr>Arial Black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Steam - Analyse de l'écosystème du jeu vidéo</dc:title>
  <dc:subject>PptxGenJS Presentation</dc:subject>
  <dc:creator>Marine Deldicque</dc:creator>
  <cp:lastModifiedBy>Marine deldicque</cp:lastModifiedBy>
  <cp:revision>3</cp:revision>
  <dcterms:created xsi:type="dcterms:W3CDTF">2026-05-06T07:33:01Z</dcterms:created>
  <dcterms:modified xsi:type="dcterms:W3CDTF">2026-05-06T07:37:36Z</dcterms:modified>
</cp:coreProperties>
</file>