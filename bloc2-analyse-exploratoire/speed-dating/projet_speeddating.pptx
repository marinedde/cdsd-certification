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76"/>
  </p:normalViewPr>
  <p:slideViewPr>
    <p:cSldViewPr snapToGrid="0" snapToObjects="1">
      <p:cViewPr varScale="1">
        <p:scale>
          <a:sx n="150" d="100"/>
          <a:sy n="150" d="100"/>
        </p:scale>
        <p:origin x="7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87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" y="0"/>
            <a:ext cx="3200400" cy="3200400"/>
          </a:xfrm>
          <a:prstGeom prst="ellipse">
            <a:avLst/>
          </a:prstGeom>
          <a:solidFill>
            <a:srgbClr val="2A2C52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2212848"/>
            <a:ext cx="2743200" cy="2743200"/>
          </a:xfrm>
          <a:prstGeom prst="ellipse">
            <a:avLst/>
          </a:prstGeom>
          <a:solidFill>
            <a:srgbClr val="2A2C52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 SPEED DATING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A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fait matcher les gens 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données de speed dating · Columbia Business School (2002-2004)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19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8 378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19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377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19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377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19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min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RDV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CDSD  ·  Bloc n°2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CONTEXTE &amp; DONNÉES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73152"/>
          </a:xfrm>
          <a:prstGeom prst="rect">
            <a:avLst/>
          </a:prstGeom>
          <a:solidFill>
            <a:srgbClr val="1E1F3B"/>
          </a:solidFill>
          <a:ln w="12700">
            <a:solidFill>
              <a:srgbClr val="1E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1430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speed dating organisées entre 2002-2004 à Columbia Business School. Chaque participant rencontre tous les participants de sexe opposé pendant 4 minutes.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651760" cy="73152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82696" y="11430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82696" y="160020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8 378 mini-rencontres. Chaque ligne = 1 RDV avec évaluations mutuelles, décision secrète de se revoir, et profil complet du participant.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5896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25896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35624" y="11430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35624" y="1600200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 qui incite les gens à accepter un 2e </a:t>
            </a:r>
            <a:r>
              <a:rPr lang="en-US" sz="1150" dirty="0" err="1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r>
              <a:rPr lang="en-US" sz="115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pour comprendre les mécanismes d'attraction et formuler des recommandations produit.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critères évalués (0–10) :  Attractivité · Sincérité · Intelligence · Humour · Ambition · Intérêts communs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MÉTHODOLOGIE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3891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56616" y="138074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exploration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valeurs manquantes, vérification des distributions, identification des outliers. ~8 378 interactions exploitables.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3891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6616" y="261518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corrélations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7004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de Pearson entre chaque critère évalué et la variable cible (décision d'accepter un 2e RDV).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43891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6616" y="38496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H / 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9044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par genre pour identifier les écarts de comportement entre hommes et femmes dans leurs critères de sélection.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3891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91456" y="138074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déclaratif vs réel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4356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entre l'importance déclarée par chaque participant et la corrélation effectivement observée avec sa décision.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3891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91456" y="261518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biais cognitifs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67004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de soi et effet d'ordre : mesure des écarts auto-évaluation / évaluation reçue, et influence de la position dans la soirée.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32104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TAUX DE MATCH &amp; DÉCISIONS PAR GENRE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926080" cy="2926080"/>
          </a:xfrm>
          <a:prstGeom prst="rect">
            <a:avLst/>
          </a:prstGeom>
          <a:solidFill>
            <a:srgbClr val="25275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 'oui'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960120"/>
            <a:ext cx="2103120" cy="210312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520440" y="1325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global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051560"/>
            <a:ext cx="2926080" cy="2926080"/>
          </a:xfrm>
          <a:prstGeom prst="rect">
            <a:avLst/>
          </a:prstGeom>
          <a:solidFill>
            <a:srgbClr val="252750"/>
          </a:solidFill>
          <a:ln w="12700">
            <a:solidFill>
              <a:srgbClr val="E879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85216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852160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 'oui'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25275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clé : Un match exige que les DEUX personnes disent 'oui' simultanément. Les hommes acceptent ~10 points de plus que les femmes → la sélectivité féminine est le principal filtre du match.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QUELS CRITÈRES FONT VRAIMENT LA DIFFÉRENCE 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 Pearson avec la décision d'accepter un 2e RDV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389888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697480" y="1389888"/>
            <a:ext cx="5117315" cy="22860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865376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97480" y="1865376"/>
            <a:ext cx="4857958" cy="22860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0" y="1801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768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2340864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697480" y="2340864"/>
            <a:ext cx="4129763" cy="22860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229600" y="22768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523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2816352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697480" y="2816352"/>
            <a:ext cx="4000084" cy="22860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29600" y="275234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3291840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697480" y="3291840"/>
            <a:ext cx="2164634" cy="2286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229600" y="32278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0.217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97480" y="3767328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697480" y="3767328"/>
            <a:ext cx="2094807" cy="2286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229600" y="37033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78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4242816"/>
            <a:ext cx="5303520" cy="228600"/>
          </a:xfrm>
          <a:prstGeom prst="rect">
            <a:avLst/>
          </a:prstGeom>
          <a:solidFill>
            <a:srgbClr val="E3E5EF"/>
          </a:solidFill>
          <a:ln w="12700">
            <a:solidFill>
              <a:srgbClr val="E3E5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697480" y="4242816"/>
            <a:ext cx="1835450" cy="2286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229600" y="4178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0.184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201168" cy="164592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85800" y="4727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(&gt; 0.35)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4754880"/>
            <a:ext cx="201168" cy="16459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788920" y="4727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 (0.18–0.25)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HOMMES VS FEMMES : CE QUI LES ATTIRE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2A2C52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024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24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1024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valorise +?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457200"/>
          </a:xfrm>
          <a:prstGeom prst="rect">
            <a:avLst/>
          </a:prstGeom>
          <a:solidFill>
            <a:srgbClr val="232548"/>
          </a:solidFill>
          <a:ln w="12700">
            <a:solidFill>
              <a:srgbClr val="23254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0.515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Hommes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8503920" cy="457200"/>
          </a:xfrm>
          <a:prstGeom prst="rect">
            <a:avLst/>
          </a:prstGeom>
          <a:solidFill>
            <a:srgbClr val="1E1F3B"/>
          </a:solidFill>
          <a:ln w="12700">
            <a:solidFill>
              <a:srgbClr val="1E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0.417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🩷 Femmes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8503920" cy="457200"/>
          </a:xfrm>
          <a:prstGeom prst="rect">
            <a:avLst/>
          </a:prstGeom>
          <a:solidFill>
            <a:srgbClr val="232548"/>
          </a:solidFill>
          <a:ln w="12700">
            <a:solidFill>
              <a:srgbClr val="23254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0040" y="2468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0.387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🩷 Femmes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71800"/>
            <a:ext cx="8503920" cy="457200"/>
          </a:xfrm>
          <a:prstGeom prst="rect">
            <a:avLst/>
          </a:prstGeom>
          <a:solidFill>
            <a:srgbClr val="1E1F3B"/>
          </a:solidFill>
          <a:ln w="12700">
            <a:solidFill>
              <a:srgbClr val="1E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0.233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0.217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🩷 Femmes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57200"/>
          </a:xfrm>
          <a:prstGeom prst="rect">
            <a:avLst/>
          </a:prstGeom>
          <a:solidFill>
            <a:srgbClr val="232548"/>
          </a:solidFill>
          <a:ln w="12700">
            <a:solidFill>
              <a:srgbClr val="23254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004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0.222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0.191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🩷 Femmes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977640"/>
            <a:ext cx="8503920" cy="457200"/>
          </a:xfrm>
          <a:prstGeom prst="rect">
            <a:avLst/>
          </a:prstGeom>
          <a:solidFill>
            <a:srgbClr val="1E1F3B"/>
          </a:solidFill>
          <a:ln w="12700">
            <a:solidFill>
              <a:srgbClr val="1E1F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004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0" y="3977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0.175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Hommes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252750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455371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L'attractivité est le seul critère où l'écart H/F est vraiment significatif (+7 pts pour les hommes)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CE QU'ON DIT VOULOIR VS CE QUI COMPTE VRAIMENT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(r)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08760" y="1847088"/>
            <a:ext cx="1077773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32253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847088"/>
            <a:ext cx="1123881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87121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240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08760" y="2350008"/>
            <a:ext cx="649834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204314" y="2240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350008"/>
            <a:ext cx="410649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3889" y="2240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2852928"/>
            <a:ext cx="768706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23186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852928"/>
            <a:ext cx="475488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538728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246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08760" y="3355848"/>
            <a:ext cx="697382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251862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3355848"/>
            <a:ext cx="886137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949377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08760" y="3858768"/>
            <a:ext cx="348691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903171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3858768"/>
            <a:ext cx="475488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538728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251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08760" y="4361688"/>
            <a:ext cx="435864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990344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17520" y="4361688"/>
            <a:ext cx="842911" cy="182880"/>
          </a:xfrm>
          <a:prstGeom prst="rect">
            <a:avLst/>
          </a:prstGeom>
          <a:solidFill>
            <a:srgbClr val="80E0F0"/>
          </a:solidFill>
          <a:ln w="12700">
            <a:solidFill>
              <a:srgbClr val="80E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906151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663440" y="987552"/>
            <a:ext cx="4160520" cy="384048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66344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5488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52160" y="1417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(r)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52160" y="1847088"/>
            <a:ext cx="713232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611112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60920" y="1847088"/>
            <a:ext cx="972589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8379229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22402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52160" y="2350008"/>
            <a:ext cx="721157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619037" y="2240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60920" y="2350008"/>
            <a:ext cx="475488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882128" y="2240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5488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852160" y="2852928"/>
            <a:ext cx="832104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729984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60920" y="2852928"/>
            <a:ext cx="497101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7903741" y="2743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54880" y="3246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52160" y="3355848"/>
            <a:ext cx="685495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583375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60920" y="3355848"/>
            <a:ext cx="907750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831439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75488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852160" y="3858768"/>
            <a:ext cx="507187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405067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360920" y="3858768"/>
            <a:ext cx="367423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774063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4251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852160" y="4361688"/>
            <a:ext cx="503225" cy="182880"/>
          </a:xfrm>
          <a:prstGeom prst="rect">
            <a:avLst/>
          </a:prstGeom>
          <a:solidFill>
            <a:srgbClr val="93BFEF"/>
          </a:solidFill>
          <a:ln w="12700">
            <a:solidFill>
              <a:srgbClr val="93BF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6401105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60920" y="4361688"/>
            <a:ext cx="886137" cy="182880"/>
          </a:xfrm>
          <a:prstGeom prst="rect">
            <a:avLst/>
          </a:prstGeom>
          <a:solidFill>
            <a:srgbClr val="F09090"/>
          </a:solidFill>
          <a:ln w="12700">
            <a:solidFill>
              <a:srgbClr val="F09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8292777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Les intérêts communs sont sous-estimés dans les déclarations (11–13%) mais présentent un impact réel élevé (r ≈ 0.40 observé)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BIAIS &amp; EFFETS CONTEXTUELS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Surestimation de soi : tout le monde se surestime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846320" cy="438912"/>
          </a:xfrm>
          <a:prstGeom prst="rect">
            <a:avLst/>
          </a:prstGeom>
          <a:solidFill>
            <a:srgbClr val="232548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35331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35331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7.7  |  reçu: 6.4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4846320" cy="438912"/>
          </a:xfrm>
          <a:prstGeom prst="rect">
            <a:avLst/>
          </a:prstGeom>
          <a:solidFill>
            <a:srgbClr val="232548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66928" y="18562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185623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8562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8.29  |  reçu: 7.18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4846320" cy="438912"/>
          </a:xfrm>
          <a:prstGeom prst="rect">
            <a:avLst/>
          </a:prstGeom>
          <a:solidFill>
            <a:srgbClr val="232548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66928" y="23591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35915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3591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8.39  |  reçu: 7.37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4846320" cy="438912"/>
          </a:xfrm>
          <a:prstGeom prst="rect">
            <a:avLst/>
          </a:prstGeom>
          <a:solidFill>
            <a:srgbClr val="232548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6928" y="28620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28620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28620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7.09  |  reçu: 6.19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4846320" cy="438912"/>
          </a:xfrm>
          <a:prstGeom prst="rect">
            <a:avLst/>
          </a:prstGeom>
          <a:solidFill>
            <a:srgbClr val="232548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66928" y="33649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336499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364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7.58  |  reçu: 6.78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987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l'ordre : mieux vaut être un RDV tôt dans la soirée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2697480"/>
            <a:ext cx="640080" cy="128016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440680" y="23774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13248" y="40233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1–5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55080" y="2926080"/>
            <a:ext cx="640080" cy="1051560"/>
          </a:xfrm>
          <a:prstGeom prst="rect">
            <a:avLst/>
          </a:prstGeom>
          <a:solidFill>
            <a:srgbClr val="3A3C62"/>
          </a:solidFill>
          <a:ln w="12700">
            <a:solidFill>
              <a:srgbClr val="3A3C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81928" y="40233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6–10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3154680"/>
            <a:ext cx="640080" cy="822960"/>
          </a:xfrm>
          <a:prstGeom prst="rect">
            <a:avLst/>
          </a:prstGeom>
          <a:solidFill>
            <a:srgbClr val="3A3C62"/>
          </a:solidFill>
          <a:ln w="12700">
            <a:solidFill>
              <a:srgbClr val="3A3C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78040" y="28346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50608" y="40233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11–15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92440" y="3108960"/>
            <a:ext cx="640080" cy="868680"/>
          </a:xfrm>
          <a:prstGeom prst="rect">
            <a:avLst/>
          </a:prstGeom>
          <a:solidFill>
            <a:srgbClr val="3A3C62"/>
          </a:solidFill>
          <a:ln w="12700">
            <a:solidFill>
              <a:srgbClr val="3A3C6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046720" y="27889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19288" y="40233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16+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SYNTHÈSE : CE QUI SEMBLE FAIRE MATCHER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29768" y="1325880"/>
            <a:ext cx="502920" cy="50292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ressenti immédiat semble dominer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(r≈0.49) + appréciation globale (r≈0.51) sont les plus forts prédicteurs observés. En 4 min, c'est le feeling qui prime.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18888" y="13258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1888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0972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L'humour fait la différence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15087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quasi-égal H/F (~0.41). C'est aussi celui avec le plus grand écart entre matchs et non-matchs (+1.44 pts observé).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4160520" cy="13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9768" y="2971800"/>
            <a:ext cx="502920" cy="502920"/>
          </a:xfrm>
          <a:prstGeom prst="ellipse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sont sous-estimés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Déclarés à 11–13%, mais corrélation observée ~0.40, plus forte que sincérité et intelligence.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651760"/>
            <a:ext cx="4160520" cy="13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18888" y="297180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1888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743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se surestime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sur l'humour (+1.30) et la sincérité (+1.11) → biais de désirabilité sociale bien documenté en psychologie sociale.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8549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29768" y="4366260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29768" y="438234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3272" y="4297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L'origine raciale partagée présente une corrélation quasi nulle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05840" y="4627880"/>
            <a:ext cx="7680960" cy="314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r≈0.013 observé dans cette analyse. Ce qui se passe pendant 4 minutes compte davantage que le profil démographique.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RECOMMANDATIONS POUR TINDER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645920"/>
          </a:xfrm>
          <a:prstGeom prst="rect">
            <a:avLst/>
          </a:prstGeom>
          <a:solidFill>
            <a:srgbClr val="252750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84632" y="1280160"/>
            <a:ext cx="640080" cy="64008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8463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115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profils visuels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L'attractivité est le 1er facteur observé. Encourager des photos de qualité et des profils complets avec une bonne photo principale.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645920"/>
          </a:xfrm>
          <a:prstGeom prst="rect">
            <a:avLst/>
          </a:prstGeom>
          <a:solidFill>
            <a:srgbClr val="252750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73752" y="1280160"/>
            <a:ext cx="640080" cy="64008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73752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115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avant l'humour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prompts orientés humour dans les profils (ex : 'Ma blague préférée', 'Mon film le plus nul assumé').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60520" cy="1645920"/>
          </a:xfrm>
          <a:prstGeom prst="rect">
            <a:avLst/>
          </a:prstGeom>
          <a:solidFill>
            <a:srgbClr val="252750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4632" y="3108960"/>
            <a:ext cx="640080" cy="64008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944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l'algo d'intérêts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sont sous-estimés par les utilisateurs mais semblent prédire le match : les pondérer davantage dans le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60520" cy="1645920"/>
          </a:xfrm>
          <a:prstGeom prst="rect">
            <a:avLst/>
          </a:prstGeom>
          <a:solidFill>
            <a:srgbClr val="252750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73752" y="3108960"/>
            <a:ext cx="640080" cy="640080"/>
          </a:xfrm>
          <a:prstGeom prst="ellipse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73752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29443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'live' et speed dating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3832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0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Live pourrait reproduire l'effet speed dating : le feeling en 4 min paraît plus prédictif que le profil statique.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8366760" cy="658368"/>
          </a:xfrm>
          <a:prstGeom prst="rect">
            <a:avLst/>
          </a:prstGeom>
          <a:solidFill>
            <a:srgbClr val="1E1F3B"/>
          </a:solidFill>
          <a:ln/>
        </p:spPr>
        <p:txBody>
          <a:bodyPr wrap="square" lIns="0" tIns="2286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LIMITES DE L'ÉTUDE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" cy="1508760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ancien (2002-2004)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comportements de séduction et les attentes ont évolué en 20 ans. Les résultats peuvent ne pas refléter les dynamiques actuelles.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1888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universitaire américaine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49240" y="148132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de Columbia Business School : profil socio-culturel homogène, non représentatif de la population générale.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54864" cy="150876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7706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dating ≠ applications modernes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physique (4 min en face-à-face) est fondamentalement différent d'une app de rencontre basée sur des profils statiques.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6974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54864" cy="1508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1888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7706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≠ causalité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3172968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corrélation de Pearson indique une association linéaire, pas un lien de cause à effet. D'autres variables confondantes sont probables.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77106"/>
            <a:ext cx="8503920" cy="79891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4277106"/>
            <a:ext cx="54864" cy="79781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2976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41655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déclaratives potentiellement biaisées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5548" y="473312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importances 'déclarées' souffrent du biais de </a:t>
            </a:r>
            <a:r>
              <a:rPr lang="en-US" sz="1050" dirty="0" err="1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désirabilité</a:t>
            </a: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</a:t>
            </a:r>
            <a:r>
              <a:rPr lang="en-US" sz="1050" dirty="0">
                <a:solidFill>
                  <a:srgbClr val="44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participants ne répondent pas toujours sincèrement.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080" y="98214"/>
            <a:ext cx="3200400" cy="3200400"/>
          </a:xfrm>
          <a:prstGeom prst="ellipse">
            <a:avLst/>
          </a:prstGeom>
          <a:solidFill>
            <a:srgbClr val="2A2C52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297507" y="2266696"/>
            <a:ext cx="2743200" cy="2743200"/>
          </a:xfrm>
          <a:prstGeom prst="ellipse">
            <a:avLst/>
          </a:prstGeom>
          <a:solidFill>
            <a:srgbClr val="2A2C52"/>
          </a:solidFill>
          <a:ln w="12700">
            <a:solidFill>
              <a:srgbClr val="2A2C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E8194B"/>
          </a:solidFill>
          <a:ln w="12700">
            <a:solidFill>
              <a:srgbClr val="E819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🔥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81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CDSD  ·  Bloc n°2  |  Speed Dating Dataset - Columbia Business School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1144</Words>
  <Application>Microsoft Macintosh PowerPoint</Application>
  <PresentationFormat>Affichage à l'écran (16:9)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Speed Dating</dc:title>
  <dc:subject>PptxGenJS Presentation</dc:subject>
  <dc:creator>Marine Deldicque</dc:creator>
  <cp:lastModifiedBy>Marine deldicque</cp:lastModifiedBy>
  <cp:revision>4</cp:revision>
  <dcterms:created xsi:type="dcterms:W3CDTF">2026-05-06T07:18:08Z</dcterms:created>
  <dcterms:modified xsi:type="dcterms:W3CDTF">2026-05-16T08:53:16Z</dcterms:modified>
</cp:coreProperties>
</file>