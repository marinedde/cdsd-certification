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71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8981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AT&amp;T Spam Detector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automatique de SMS spam par Deep Learning &amp; Transfer Learning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· Jedha Fullstack Data Science · Certification CDSD · Bloc 4 Deep Learning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804672"/>
          </a:xfrm>
          <a:prstGeom prst="rect">
            <a:avLst/>
          </a:prstGeom>
          <a:solidFill>
            <a:srgbClr val="243255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5 571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28163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labelisés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286000"/>
            <a:ext cx="2606040" cy="804672"/>
          </a:xfrm>
          <a:prstGeom prst="rect">
            <a:avLst/>
          </a:prstGeom>
          <a:solidFill>
            <a:srgbClr val="243255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383280" y="2331720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383280" y="28163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comparés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2286000"/>
            <a:ext cx="2606040" cy="804672"/>
          </a:xfrm>
          <a:prstGeom prst="rect">
            <a:avLst/>
          </a:prstGeom>
          <a:solidFill>
            <a:srgbClr val="243255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98.7%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217920" y="28163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best model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1920240" cy="384048"/>
          </a:xfrm>
          <a:prstGeom prst="rect">
            <a:avLst/>
          </a:prstGeom>
          <a:solidFill>
            <a:srgbClr val="243255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548640" y="33375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Contexte &amp; EDA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06040" y="3337560"/>
            <a:ext cx="1920240" cy="384048"/>
          </a:xfrm>
          <a:prstGeom prst="rect">
            <a:avLst/>
          </a:prstGeom>
          <a:solidFill>
            <a:srgbClr val="243255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606040" y="33375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Pipeline NLP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3337560"/>
            <a:ext cx="1920240" cy="384048"/>
          </a:xfrm>
          <a:prstGeom prst="rect">
            <a:avLst/>
          </a:prstGeom>
          <a:solidFill>
            <a:srgbClr val="243255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663440" y="33375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Modèles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20840" y="3337560"/>
            <a:ext cx="1920240" cy="384048"/>
          </a:xfrm>
          <a:prstGeom prst="rect">
            <a:avLst/>
          </a:prstGeom>
          <a:solidFill>
            <a:srgbClr val="243255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720840" y="33375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Résultats &amp; Conclusion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817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Jedha CDSD  ·  Bloc 4 Deep Learning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72400" y="482803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84048" y="0"/>
            <a:ext cx="8321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Contexte &amp; EDA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411480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3657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AT&amp;T reçoit des millions de SMS par jour. Les spams exposent les utilisateurs à des arnaques et dégradent l'expérience.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classifier chaque SMS comme ham (légitime) ou spam à partir du texte uniquement, données non structurées.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670048"/>
            <a:ext cx="3749040" cy="402336"/>
          </a:xfrm>
          <a:prstGeom prst="rect">
            <a:avLst/>
          </a:prstGeom>
          <a:solidFill>
            <a:srgbClr val="B2EBE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40080" y="2670048"/>
            <a:ext cx="3611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 </a:t>
            </a:r>
            <a:r>
              <a:rPr lang="en-US" sz="11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5 571 SMS labelisés (spam.csv)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27248"/>
            <a:ext cx="3749040" cy="402336"/>
          </a:xfrm>
          <a:prstGeom prst="rect">
            <a:avLst/>
          </a:prstGeom>
          <a:solidFill>
            <a:srgbClr val="B3E5FC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0080" y="3127248"/>
            <a:ext cx="3611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  </a:t>
            </a:r>
            <a:r>
              <a:rPr lang="en-US" sz="11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binaire : ham=0 / spam=1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584448"/>
            <a:ext cx="3749040" cy="402336"/>
          </a:xfrm>
          <a:prstGeom prst="rect">
            <a:avLst/>
          </a:prstGeom>
          <a:solidFill>
            <a:srgbClr val="FCE4EC"/>
          </a:solidFill>
          <a:ln w="12700">
            <a:solidFill>
              <a:srgbClr val="F48FB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40080" y="3584448"/>
            <a:ext cx="3611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 clé  </a:t>
            </a:r>
            <a:r>
              <a:rPr lang="en-US" sz="11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spam — l'accuracy globale est biaisée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09160" y="777240"/>
            <a:ext cx="411480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937760" y="91440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des classes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212080" y="1389888"/>
            <a:ext cx="1005840" cy="23774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120640" y="1234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4,825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382219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(légitime)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83680" y="3310128"/>
            <a:ext cx="1005840" cy="457200"/>
          </a:xfrm>
          <a:prstGeom prst="rect">
            <a:avLst/>
          </a:prstGeom>
          <a:solidFill>
            <a:srgbClr val="F48FB1"/>
          </a:solidFill>
          <a:ln w="12700">
            <a:solidFill>
              <a:srgbClr val="F48FB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92240" y="3154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38221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09160" y="4251960"/>
            <a:ext cx="4114800" cy="0"/>
          </a:xfrm>
          <a:prstGeom prst="rect">
            <a:avLst/>
          </a:prstGeom>
          <a:solidFill>
            <a:srgbClr val="FCE4EC"/>
          </a:solidFill>
          <a:ln w="12700">
            <a:solidFill>
              <a:srgbClr val="FCE4E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4709160" y="4251960"/>
            <a:ext cx="4114800" cy="0"/>
          </a:xfrm>
          <a:prstGeom prst="rect">
            <a:avLst/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4709160" y="4251960"/>
            <a:ext cx="4114800" cy="0"/>
          </a:xfrm>
          <a:prstGeom prst="rect">
            <a:avLst/>
          </a:prstGeom>
          <a:solidFill>
            <a:srgbClr val="B2EBE6"/>
          </a:solidFill>
          <a:ln w="12700">
            <a:solidFill>
              <a:srgbClr val="B2EB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828032" y="4297680"/>
            <a:ext cx="3840480" cy="292608"/>
          </a:xfrm>
          <a:prstGeom prst="rect">
            <a:avLst/>
          </a:prstGeom>
          <a:solidFill>
            <a:srgbClr val="FCE4EC"/>
          </a:solidFill>
          <a:ln w="12700">
            <a:solidFill>
              <a:srgbClr val="F48FB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892040" y="42976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ham / 14% spam → déséquilibre modéré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28032" y="4626864"/>
            <a:ext cx="3840480" cy="256032"/>
          </a:xfrm>
          <a:prstGeom prst="rect">
            <a:avLst/>
          </a:prstGeom>
          <a:solidFill>
            <a:srgbClr val="B2EBE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892040" y="46268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class_weight appliqué pour compenser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82803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84048" y="0"/>
            <a:ext cx="8321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Pipeline NLP : Prétraitement du texte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29968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804672"/>
            <a:ext cx="2029968" cy="438912"/>
          </a:xfrm>
          <a:prstGeom prst="rect">
            <a:avLst/>
          </a:prstGeom>
          <a:solidFill>
            <a:srgbClr val="B3E5FC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11480" y="804672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Nettoyage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350008" y="1847088"/>
            <a:ext cx="137160" cy="50292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29768" y="1325880"/>
            <a:ext cx="18105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Minuscules · suppression URLs, chiffres, ponctuation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87168" y="804672"/>
            <a:ext cx="2029968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487168" y="804672"/>
            <a:ext cx="2029968" cy="438912"/>
          </a:xfrm>
          <a:prstGeom prst="rect">
            <a:avLst/>
          </a:prstGeom>
          <a:solidFill>
            <a:srgbClr val="B2EBE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578608" y="804672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Tokenisation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17136" y="1847088"/>
            <a:ext cx="137160" cy="50292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596896" y="1325880"/>
            <a:ext cx="18105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mot → ID numérique unique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Vocabulaire : 10 000 mots · OOV token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54296" y="804672"/>
            <a:ext cx="2029968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654296" y="804672"/>
            <a:ext cx="2029968" cy="438912"/>
          </a:xfrm>
          <a:prstGeom prst="rect">
            <a:avLst/>
          </a:prstGeom>
          <a:solidFill>
            <a:srgbClr val="FFF8E1"/>
          </a:solidFill>
          <a:ln w="12700">
            <a:solidFill>
              <a:srgbClr val="FFD54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745736" y="804672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Padding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84264" y="1847088"/>
            <a:ext cx="137160" cy="50292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764024" y="1325880"/>
            <a:ext cx="18105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SMS à longueur fixe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tokens (post-padding)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21424" y="804672"/>
            <a:ext cx="2029968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821424" y="804672"/>
            <a:ext cx="2029968" cy="438912"/>
          </a:xfrm>
          <a:prstGeom prst="rect">
            <a:avLst/>
          </a:prstGeom>
          <a:solidFill>
            <a:srgbClr val="FCE4EC"/>
          </a:solidFill>
          <a:ln w="12700">
            <a:solidFill>
              <a:srgbClr val="F48FB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912864" y="804672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48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Split stratifié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931152" y="1325880"/>
            <a:ext cx="18105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 / 20% test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Stratify conserve le ratio 86/14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337560"/>
            <a:ext cx="8503920" cy="438912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502920" y="333756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concret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3822192"/>
            <a:ext cx="2029968" cy="932688"/>
          </a:xfrm>
          <a:prstGeom prst="rect">
            <a:avLst/>
          </a:prstGeom>
          <a:solidFill>
            <a:srgbClr val="FCE4EC"/>
          </a:solidFill>
          <a:ln w="12700">
            <a:solidFill>
              <a:srgbClr val="F48FB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11480" y="38404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original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11480" y="4096512"/>
            <a:ext cx="18470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"FREE WIN PRIZE! Call now 07777 999"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487168" y="3822192"/>
            <a:ext cx="2029968" cy="932688"/>
          </a:xfrm>
          <a:prstGeom prst="rect">
            <a:avLst/>
          </a:prstGeom>
          <a:solidFill>
            <a:srgbClr val="FFF8E1"/>
          </a:solidFill>
          <a:ln w="12700">
            <a:solidFill>
              <a:srgbClr val="FFD54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2578608" y="38404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nettoyage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578608" y="4096512"/>
            <a:ext cx="18470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"free win prize call now"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54296" y="3822192"/>
            <a:ext cx="2029968" cy="932688"/>
          </a:xfrm>
          <a:prstGeom prst="rect">
            <a:avLst/>
          </a:prstGeom>
          <a:solidFill>
            <a:srgbClr val="B2EBE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745736" y="38404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tokenisation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745736" y="4096512"/>
            <a:ext cx="18470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[45, 302, 891, 77, 204]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821424" y="3822192"/>
            <a:ext cx="2029968" cy="932688"/>
          </a:xfrm>
          <a:prstGeom prst="rect">
            <a:avLst/>
          </a:prstGeom>
          <a:solidFill>
            <a:srgbClr val="B3E5FC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6912864" y="38404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padding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912864" y="4096512"/>
            <a:ext cx="18470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[45, 302, 891, 77, 204, 0, 0 … 0]  (150 tokens)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20040" y="4800600"/>
            <a:ext cx="8503920" cy="256032"/>
          </a:xfrm>
          <a:prstGeom prst="rect">
            <a:avLst/>
          </a:prstGeom>
          <a:solidFill>
            <a:srgbClr val="B2EBE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384048" y="4800600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Le tokenizer est fitté uniquement sur X_train : garantit l'absence de data leakage, même en NLP.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772400" y="482803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84048" y="0"/>
            <a:ext cx="8321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Deux modèles entraînés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605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804672"/>
            <a:ext cx="4160520" cy="50292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02920" y="89611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1 Baseline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+ GlobalAvgPooling + Dense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3886200" cy="384048"/>
          </a:xfrm>
          <a:prstGeom prst="rect">
            <a:avLst/>
          </a:prstGeom>
          <a:solidFill>
            <a:srgbClr val="B3E5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66928" y="16916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06040" y="1691640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mots → 32 dims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112264"/>
            <a:ext cx="3886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66928" y="211226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GlobalAveragePooling1D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06040" y="2112264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réduit la séquence en vecteur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32888"/>
            <a:ext cx="3886200" cy="384048"/>
          </a:xfrm>
          <a:prstGeom prst="rect">
            <a:avLst/>
          </a:prstGeom>
          <a:solidFill>
            <a:srgbClr val="B3E5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66928" y="25328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64 (ReLU)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06040" y="2532888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Dropout 30%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953512"/>
            <a:ext cx="3886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66928" y="29535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1 (Sigmoid)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06040" y="2953512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 spam ∈ [0, 1]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4074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sec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681728"/>
            <a:ext cx="1207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755648" y="44074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epochs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755648" y="4681728"/>
            <a:ext cx="1207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EarlyStopping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054096" y="44074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54096" y="4681728"/>
            <a:ext cx="1207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déséquilibre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804672"/>
            <a:ext cx="41605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4663440" y="804672"/>
            <a:ext cx="4160520" cy="5029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846320" y="89611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2 Transfer Learning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84632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(HuggingFace) + Fine-tuning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00600" y="1691640"/>
            <a:ext cx="3886200" cy="384048"/>
          </a:xfrm>
          <a:prstGeom prst="rect">
            <a:avLst/>
          </a:prstGeom>
          <a:solidFill>
            <a:srgbClr val="B2EB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4919472" y="1691640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pré-entraîné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50608" y="169164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66M paramètres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800600" y="2112264"/>
            <a:ext cx="3886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4919472" y="2112264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Entraîné sur Wikipedia+livres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50608" y="2112264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milliards de tokens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800600" y="2532888"/>
            <a:ext cx="3886200" cy="384048"/>
          </a:xfrm>
          <a:prstGeom prst="rect">
            <a:avLst/>
          </a:prstGeom>
          <a:solidFill>
            <a:srgbClr val="B2EB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4919472" y="253288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: 2 epochs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50608" y="2532888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nos 5 571 SMS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800600" y="2953512"/>
            <a:ext cx="3886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4919472" y="2953512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2 classes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50608" y="2953512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/ spam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800600" y="44074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min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00600" y="4681728"/>
            <a:ext cx="1207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T4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099048" y="44074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epochs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099048" y="4681728"/>
            <a:ext cx="1207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397496" y="44074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lr=2e-5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397496" y="4681728"/>
            <a:ext cx="1207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optimiseur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772400" y="482803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84048" y="0"/>
            <a:ext cx="8321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Résultats &amp; Comparaison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2996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804672"/>
            <a:ext cx="2029968" cy="347472"/>
          </a:xfrm>
          <a:prstGeom prst="rect">
            <a:avLst/>
          </a:prstGeom>
          <a:solidFill>
            <a:srgbClr val="B3E5FC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93192" y="804672"/>
            <a:ext cx="18836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/ Baseline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0040" y="1170432"/>
            <a:ext cx="20299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97.9%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2487168" y="804672"/>
            <a:ext cx="202996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2487168" y="804672"/>
            <a:ext cx="2029968" cy="347472"/>
          </a:xfrm>
          <a:prstGeom prst="rect">
            <a:avLst/>
          </a:prstGeom>
          <a:solidFill>
            <a:srgbClr val="B3E5FC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560320" y="804672"/>
            <a:ext cx="18836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spam / Baseline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487168" y="1170432"/>
            <a:ext cx="20299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0.919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4654296" y="804672"/>
            <a:ext cx="202996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654296" y="804672"/>
            <a:ext cx="2029968" cy="347472"/>
          </a:xfrm>
          <a:prstGeom prst="rect">
            <a:avLst/>
          </a:prstGeom>
          <a:solidFill>
            <a:srgbClr val="B2EBE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727448" y="804672"/>
            <a:ext cx="18836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/ DistilBERT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54296" y="1170432"/>
            <a:ext cx="20299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98.7%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6821424" y="804672"/>
            <a:ext cx="202996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6821424" y="804672"/>
            <a:ext cx="2029968" cy="347472"/>
          </a:xfrm>
          <a:prstGeom prst="rect">
            <a:avLst/>
          </a:prstGeom>
          <a:solidFill>
            <a:srgbClr val="B2EBE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894576" y="804672"/>
            <a:ext cx="18836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spam / DistilBERT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821424" y="1170432"/>
            <a:ext cx="20299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0.950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320040" y="2148840"/>
            <a:ext cx="411480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02920" y="2267712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F1-score par classe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94360" y="3048000"/>
            <a:ext cx="411480" cy="1322832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21208" y="2773680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51560" y="2953512"/>
            <a:ext cx="411480" cy="141732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978408" y="2679192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02920" y="440740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ham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874520" y="3718865"/>
            <a:ext cx="411480" cy="651967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1801368" y="3444545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0.919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331720" y="3425952"/>
            <a:ext cx="411480" cy="9448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2258568" y="3151632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783080" y="440740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spam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154680" y="3151937"/>
            <a:ext cx="411480" cy="1218895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3081528" y="2877617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0.979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11880" y="3076346"/>
            <a:ext cx="411480" cy="1294486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3538728" y="280202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0.987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063240" y="440740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66928" y="4773168"/>
            <a:ext cx="201168" cy="12801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804672" y="475488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691640" y="4773168"/>
            <a:ext cx="201168" cy="128016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1920240" y="475488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09160" y="2148840"/>
            <a:ext cx="411480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4709160" y="2148840"/>
            <a:ext cx="4114800" cy="438912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4892040" y="21488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Matrices de confusion (test set)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96128" y="263347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Prédit ham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903720" y="263347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Prédit spam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754880" y="2926080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ham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96128" y="2926080"/>
            <a:ext cx="1234440" cy="347472"/>
          </a:xfrm>
          <a:prstGeom prst="rect">
            <a:avLst/>
          </a:prstGeom>
          <a:solidFill>
            <a:srgbClr val="B2EBE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7"/>
          <p:cNvSpPr/>
          <p:nvPr/>
        </p:nvSpPr>
        <p:spPr>
          <a:xfrm>
            <a:off x="5596128" y="292608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955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6903720" y="2926080"/>
            <a:ext cx="1234440" cy="347472"/>
          </a:xfrm>
          <a:prstGeom prst="rect">
            <a:avLst/>
          </a:prstGeom>
          <a:solidFill>
            <a:srgbClr val="FCE4EC"/>
          </a:solidFill>
          <a:ln w="12700">
            <a:solidFill>
              <a:srgbClr val="F48FB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9"/>
          <p:cNvSpPr/>
          <p:nvPr/>
        </p:nvSpPr>
        <p:spPr>
          <a:xfrm>
            <a:off x="6903720" y="292608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8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4754880" y="3310128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spam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596128" y="3310128"/>
            <a:ext cx="1234440" cy="347472"/>
          </a:xfrm>
          <a:prstGeom prst="rect">
            <a:avLst/>
          </a:prstGeom>
          <a:solidFill>
            <a:srgbClr val="FCE4EC"/>
          </a:solidFill>
          <a:ln w="12700">
            <a:solidFill>
              <a:srgbClr val="F48FB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5596128" y="3310128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8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903720" y="3310128"/>
            <a:ext cx="1234440" cy="347472"/>
          </a:xfrm>
          <a:prstGeom prst="rect">
            <a:avLst/>
          </a:prstGeom>
          <a:solidFill>
            <a:srgbClr val="B2EBE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6903720" y="3310128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4754880" y="3794760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ham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5596128" y="3794760"/>
            <a:ext cx="1234440" cy="347472"/>
          </a:xfrm>
          <a:prstGeom prst="rect">
            <a:avLst/>
          </a:prstGeom>
          <a:solidFill>
            <a:srgbClr val="B2EBE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7"/>
          <p:cNvSpPr/>
          <p:nvPr/>
        </p:nvSpPr>
        <p:spPr>
          <a:xfrm>
            <a:off x="5596128" y="379476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962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903720" y="3794760"/>
            <a:ext cx="1234440" cy="347472"/>
          </a:xfrm>
          <a:prstGeom prst="rect">
            <a:avLst/>
          </a:prstGeom>
          <a:solidFill>
            <a:srgbClr val="FCE4EC"/>
          </a:solidFill>
          <a:ln w="12700">
            <a:solidFill>
              <a:srgbClr val="F48FB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Text 59"/>
          <p:cNvSpPr/>
          <p:nvPr/>
        </p:nvSpPr>
        <p:spPr>
          <a:xfrm>
            <a:off x="6903720" y="379476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8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4754880" y="4178808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spam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596128" y="4178808"/>
            <a:ext cx="1234440" cy="347472"/>
          </a:xfrm>
          <a:prstGeom prst="rect">
            <a:avLst/>
          </a:prstGeom>
          <a:solidFill>
            <a:srgbClr val="FCE4EC"/>
          </a:solidFill>
          <a:ln w="12700">
            <a:solidFill>
              <a:srgbClr val="F48FB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4" name="Text 62"/>
          <p:cNvSpPr/>
          <p:nvPr/>
        </p:nvSpPr>
        <p:spPr>
          <a:xfrm>
            <a:off x="5596128" y="4178808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8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6903720" y="4178808"/>
            <a:ext cx="1234440" cy="347472"/>
          </a:xfrm>
          <a:prstGeom prst="rect">
            <a:avLst/>
          </a:prstGeom>
          <a:solidFill>
            <a:srgbClr val="B2EBE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Text 64"/>
          <p:cNvSpPr/>
          <p:nvPr/>
        </p:nvSpPr>
        <p:spPr>
          <a:xfrm>
            <a:off x="6903720" y="4178808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320040" y="4782312"/>
            <a:ext cx="8503920" cy="256032"/>
          </a:xfrm>
          <a:prstGeom prst="rect">
            <a:avLst/>
          </a:prstGeom>
          <a:solidFill>
            <a:srgbClr val="B2EBE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8" name="Text 66"/>
          <p:cNvSpPr/>
          <p:nvPr/>
        </p:nvSpPr>
        <p:spPr>
          <a:xfrm>
            <a:off x="384048" y="4782312"/>
            <a:ext cx="8366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Métrique prioritaire : F1 spam — DistilBERT détecte 18 spams supplémentaires sur le jeu de test (145 vs 137)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772400" y="482803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84048" y="0"/>
            <a:ext cx="8321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Limites du modèle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4160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4864" cy="14173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84632" y="94183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relativement petit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84632" y="132588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5 571 SMS est suffisant pour une preuve de concept, mais limité pour évaluer la robustesse du modèle face à de nouveaux types de spam et l'évolution du langage.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868680"/>
            <a:ext cx="4160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709160" y="868680"/>
            <a:ext cx="54864" cy="1417320"/>
          </a:xfrm>
          <a:prstGeom prst="rect">
            <a:avLst/>
          </a:prstGeom>
          <a:solidFill>
            <a:srgbClr val="F48FB1"/>
          </a:solidFill>
          <a:ln w="12700">
            <a:solidFill>
              <a:srgbClr val="F48FB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873752" y="94183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48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courts — contexte limité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73752" y="132588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SMS ont une longueur médiane très faible. DistilBERT, conçu pour des textes plus longs, sous-exploite potentiellement sa capacité contextuelle sur ce corpus.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423160"/>
            <a:ext cx="4160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320040" y="2423160"/>
            <a:ext cx="54864" cy="141732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84632" y="249631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Anglais uniquement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84632" y="288036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dataset et DistilBERT pré-entraîné sont en anglais. Le modèle n'est pas applicable directement à d'autres langues sans un fine-tuning multilingue spécifique.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2423160"/>
            <a:ext cx="4160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4709160" y="2423160"/>
            <a:ext cx="54864" cy="1417320"/>
          </a:xfrm>
          <a:prstGeom prst="rect">
            <a:avLst/>
          </a:prstGeom>
          <a:solidFill>
            <a:srgbClr val="FFD54F"/>
          </a:solidFill>
          <a:ln w="12700">
            <a:solidFill>
              <a:srgbClr val="FFD54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873752" y="249631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d'analyse de dérive temporelle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73752" y="288036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vocabulaire du spam évolue rapidement (nouveaux mots, contournements). Sans monitoring de dérive, le modèle se dégradera progressivement en production.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977640"/>
            <a:ext cx="4160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320040" y="3977640"/>
            <a:ext cx="54864" cy="1078992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84632" y="405079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de faux positifs en production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4632" y="443484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ham mal classifiés (DistilBERT) peuvent être critiques : un SMS légitime en dossier spam est perçu comme une panne. La tolérance aux FP doit être calibrée métier.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09160" y="3977640"/>
            <a:ext cx="4160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709160" y="3977640"/>
            <a:ext cx="54864" cy="107899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873752" y="405079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coûteux pour mobile temps réel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873752" y="443484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66M paramètres nécessitent GPU T4 à l'entraînement. En inférence mobile temps réel, la latence pourrait dépasser les contraintes UX. Une distillation supplémentaire serait à considérer.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772400" y="482803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Conclusion &amp; recommandation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0" y="713232"/>
            <a:ext cx="9144000" cy="4572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21792"/>
          </a:xfrm>
          <a:prstGeom prst="rect">
            <a:avLst/>
          </a:prstGeom>
          <a:solidFill>
            <a:srgbClr val="1E3050"/>
          </a:solidFill>
          <a:ln w="12700">
            <a:solidFill>
              <a:srgbClr val="B3BFD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75488" y="9144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EDA : dataset déséquilibré (86/14%) → class_weight appliqué, F1 spam choisi comme métrique principale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64208"/>
            <a:ext cx="8412480" cy="621792"/>
          </a:xfrm>
          <a:prstGeom prst="rect">
            <a:avLst/>
          </a:prstGeom>
          <a:solidFill>
            <a:srgbClr val="1E3050"/>
          </a:solidFill>
          <a:ln w="12700">
            <a:solidFill>
              <a:srgbClr val="B3BFD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75488" y="1664208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Pipeline NLP : nettoyage → tokenisation (fit sur train uniquement) → padding → split stratifié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414016"/>
            <a:ext cx="8412480" cy="621792"/>
          </a:xfrm>
          <a:prstGeom prst="rect">
            <a:avLst/>
          </a:prstGeom>
          <a:solidFill>
            <a:srgbClr val="1E3050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75488" y="2414016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Modèle 1 : Embedding + Dense : Accuracy 97.9%  ·  F1 spam 0.919  ·  ~10 sec  ·  CPU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3163824"/>
            <a:ext cx="8412480" cy="621792"/>
          </a:xfrm>
          <a:prstGeom prst="rect">
            <a:avLst/>
          </a:prstGeom>
          <a:solidFill>
            <a:srgbClr val="1E3050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75488" y="3163824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Modèle 2 : DistilBERT (Transfer Learning) : Accuracy 98.7%  ·  F1 spam 0.950  ·  +3.1 pts  ·  ~1 min GPU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913632"/>
            <a:ext cx="8412480" cy="621792"/>
          </a:xfrm>
          <a:prstGeom prst="rect">
            <a:avLst/>
          </a:prstGeom>
          <a:solidFill>
            <a:srgbClr val="1E3050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75488" y="391363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Recommandation : DistilBERT en production, détecte 18 spams supplémentaires. Le gain justifie le coût computationnel.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Jedha CDSD  ·  Bloc 4 Deep Learning  ·  Merci  ·  Questions ?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772400" y="482803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870</Words>
  <Application>Microsoft Macintosh PowerPoint</Application>
  <PresentationFormat>Affichage à l'écran (16:9)</PresentationFormat>
  <Paragraphs>158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AT&amp;T Spam Detector</dc:title>
  <dc:subject>PptxGenJS Presentation</dc:subject>
  <dc:creator>Marine Deldicque</dc:creator>
  <cp:lastModifiedBy>Marine deldicque</cp:lastModifiedBy>
  <cp:revision>2</cp:revision>
  <dcterms:created xsi:type="dcterms:W3CDTF">2026-05-06T08:16:05Z</dcterms:created>
  <dcterms:modified xsi:type="dcterms:W3CDTF">2026-05-06T08:18:25Z</dcterms:modified>
</cp:coreProperties>
</file>