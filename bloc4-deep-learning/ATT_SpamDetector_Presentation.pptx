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Répartition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E7A5A"/>
              </a:solidFill>
              <a:effectLst/>
            </c:spPr>
          </c:dPt>
          <c:dPt>
            <c:idx val="1"/>
            <c:bubble3D val="0"/>
            <c:spPr>
              <a:solidFill>
                <a:srgbClr val="B5503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Ham (légitime)</c:v>
                </c:pt>
                <c:pt idx="1">
                  <c:v>Spam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4825</c:v>
                </c:pt>
                <c:pt idx="1">
                  <c:v>747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3201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spam</c:v>
                </c:pt>
              </c:strCache>
            </c:strRef>
          </c:tx>
          <c:spPr>
            <a:solidFill>
              <a:srgbClr val="8A847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320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84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5503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Réseau simple</c:v>
                  </c:pt>
                  <c:pt idx="1">
                    <c:v>DistilBERT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0.922</c:v>
                </c:pt>
                <c:pt idx="1">
                  <c:v>0.969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2320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3201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8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 4 = données non structurées. Ici : du texte. Enjeu : transformer du texte en nombres qu'un réseau peut apprendre, puis comparer un réseau entraîné de zéro à un modèle pré-entraîné.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Déséquilibre = LE point méthodo. Accuracy trompeuse. F1 spam = précision (peu de vrais messages bloqués) × rappel (peu de spams ratés). Doublons retirés avant le split pour éviter la fuite du train vers le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Analogie : traducteur du texte vers les nombres. Point de rigueur : tokenizer fit sur le train uniquement, sinon fuite de données. Pour DistilBERT on ne nettoie PAS : son propre tokenizer WordPiece exploite chiffres et ponctuation (signaux de spam).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Baseline = élève débutant qui apprend tout de zéro sur 3 700 SMS. Pourquoi moyenne plutôt que LSTM : présence des mots &gt; ordre, messages courts, rapide. Pourquoi entropie croisée : fonction de coût naturelle d'une sortie probabiliste, pénalise fort une erreur confiante. Même fonction pour DistilBERT (2 logits). Mêmes jeux train/val/test pour les deux, donc comparaison à données égales.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Bulletin de notes sur la même épreuve (test jamais vu). Lire précision ET rappel : baseline plus prudente (peu de FP), DistilBERT attrape plus de spams. Le F1 tranche. Les nombres viennent des matrices de confusion du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Relance fréquente : précision ou rappel ? Dépend du coût métier. Ici FP plus grave, donc seuil &gt; 0,5, réglé sur la validation (jamais sur le test). Montrer les SMS mal classés prouve qu'on a regardé les données, pas seulement les scores.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POC. Dérive = les données changent, le modèle figé se dégrade, donc monitoring. Pas d'augmentation de données utilisée : le jeu suffit ; possible via synonymes / rétro-traduction sur la classe spam.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 de clôture : j'ai transformé du texte brut en nombres, comparé un réseau entraîné de zéro à un modèle pré-entraîné spécialisé, et le transfer learning gagne là où ça compte : il ne bloque presque plus jamais un vrai message. Plus de spams attrapés pour un coût maîtrisé.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Analogie GPS : le numéro de jeton est un matricule, l'embedding des coordonnées dans un espace de sens. Matrice 10 000 x 32 apprise par rétropropagation. La figure vient du notebook (section 5) : les mots du spam se regroupent à gauche, ceux du quotidien à droite.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Analogie : diplômé de lettres embauché puis formé 3 jours. Trois étapes : pré-entraînement (masques), tête de classification, ajustement fin de tout le réseau. Figures du notebook (section 6.3). Alternative : geler l'encodeur, moins cher, moins performant.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874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les SMS frauduleux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3317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AT&amp;T Spam Detector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429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Classer chaque SMS, légitime ou spam, à partir du texte seul.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4754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55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5 572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5532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étiquetés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069080" y="4754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55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069080" y="5532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comparés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60920" y="4754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55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0,969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7360920" y="5532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spam du meilleur modèle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Deldicque   ·   Jedha Data Science   ·   Certification CDSD, Bloc 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· LE PROBLÈME ET LES DONNÉES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772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Trier le légitime du frauduleux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Deldicque  ·  AT&amp;T Spam Detector  ·  Bloc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5554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78308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AT&amp;T reçoit des millions de SMS par jour. Les spams exposent les clients à des arnaques. On veut une décision automatique : ce message est-il légitime (ham) ou un spam 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71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de données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2971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5 572 SMS étiquetés · 403 doublons retirés, 5 169 uniques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3502152"/>
            <a:ext cx="5394960" cy="0"/>
          </a:xfrm>
          <a:prstGeom prst="line">
            <a:avLst/>
          </a:prstGeom>
          <a:noFill/>
          <a:ln w="9525">
            <a:solidFill>
              <a:srgbClr val="E4DD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5387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35387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binaire supervisée : ham (0) ou spam (1)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4069080"/>
            <a:ext cx="5394960" cy="0"/>
          </a:xfrm>
          <a:prstGeom prst="line">
            <a:avLst/>
          </a:prstGeom>
          <a:noFill/>
          <a:ln w="9525">
            <a:solidFill>
              <a:srgbClr val="E4DDD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10565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Déséquilibre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514600" y="41056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87 % ham / 13 % spam, classe spam pondérée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" y="4636008"/>
            <a:ext cx="5394960" cy="0"/>
          </a:xfrm>
          <a:prstGeom prst="line">
            <a:avLst/>
          </a:prstGeom>
          <a:noFill/>
          <a:ln w="9525">
            <a:solidFill>
              <a:srgbClr val="E4DDD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6725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 suivie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514600" y="467258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du spam (précision × rappel), pas l'accuracy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5202936"/>
            <a:ext cx="5394960" cy="0"/>
          </a:xfrm>
          <a:prstGeom prst="line">
            <a:avLst/>
          </a:prstGeom>
          <a:noFill/>
          <a:ln w="9525">
            <a:solidFill>
              <a:srgbClr val="E4DDD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52395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Découpage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514600" y="52395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3 721 · validation 414 · test 1 034 (stratifié)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7240" y="5769864"/>
            <a:ext cx="5394960" cy="0"/>
          </a:xfrm>
          <a:prstGeom prst="line">
            <a:avLst/>
          </a:prstGeom>
          <a:noFill/>
          <a:ln w="9525">
            <a:solidFill>
              <a:srgbClr val="E4DD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0" y="1691640"/>
            <a:ext cx="461772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086600" y="1920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se répartissent les messages</a:t>
            </a:r>
            <a:endParaRPr lang="en-US" sz="13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6949440" y="2331720"/>
          <a:ext cx="4251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 txBox="1"/>
          <p:nvPr/>
        </p:nvSpPr>
        <p:spPr>
          <a:xfrm>
            <a:off x="7086600" y="51206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on prédit toujours « ham », on a 87 % d'accuracy… et 0 spam détecté. D'où le F1 du spam comme boussole.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1/4 · PRÉPARER LE TEXTE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772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SMS brut à des nombres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Deldicque  ·  AT&amp;T Spam Detector  ·  Bloc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5554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73736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réseau de neurones ne lit pas des mots, il lit des nombres. On transforme donc chaque message en une suite de nombres, en 3 étapes.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2743200"/>
            <a:ext cx="457200" cy="457200"/>
          </a:xfrm>
          <a:prstGeom prst="ellipse">
            <a:avLst/>
          </a:prstGeom>
          <a:solidFill>
            <a:srgbClr val="B5503F"/>
          </a:solidFill>
          <a:ln w="12700">
            <a:solidFill>
              <a:srgbClr val="B550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6974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0175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en minuscules ; on retire liens, chiffres et ponctuation.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3703320"/>
            <a:ext cx="457200" cy="457200"/>
          </a:xfrm>
          <a:prstGeom prst="ellipse">
            <a:avLst/>
          </a:prstGeom>
          <a:solidFill>
            <a:srgbClr val="B5503F"/>
          </a:solidFill>
          <a:ln w="12700">
            <a:solidFill>
              <a:srgbClr val="B550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6576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Découper en jetons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977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mot reçoit un numéro unique. Vocabulaire de 10 000 mots, appris sur le train uniquement.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4663440"/>
            <a:ext cx="457200" cy="457200"/>
          </a:xfrm>
          <a:prstGeom prst="ellipse">
            <a:avLst/>
          </a:prstGeom>
          <a:solidFill>
            <a:srgbClr val="B5503F"/>
          </a:solidFill>
          <a:ln w="12700">
            <a:solidFill>
              <a:srgbClr val="B5503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6177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à la même longueur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9377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complète avec des zéros (ou on tronque) à 64 jetons : 99 % des SMS tiennent dedans.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766560" y="1691640"/>
            <a:ext cx="461772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086600" y="1920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un exemple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423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reçu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2697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FREE WIN PRIZE! Call now 07777 »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3200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nettoyage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3474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win prize call now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3977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nombres (jetons)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4251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5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[45, 302, 891, 77, 204]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86600" y="4754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padding (64)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086600" y="5029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5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[45, 302, 891, 77, 204, 0, 0 … 0]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086600" y="5532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tokenizer est appris sur le train seulement : le test contient des mots inconnus, comme en production.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2/4 · LES DEUX MODÈLES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772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réseau simple, puis un modèle pré-entraîné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Deldicque  ·  AT&amp;T Spam Detector  ·  Bloc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5554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691640"/>
            <a:ext cx="507492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09728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1 · DE RÉFÉRENCE (BASELINE)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 + réseau dense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097280" y="3008376"/>
            <a:ext cx="118872" cy="118872"/>
          </a:xfrm>
          <a:prstGeom prst="ellipse">
            <a:avLst/>
          </a:prstGeom>
          <a:solidFill>
            <a:srgbClr val="8A847A"/>
          </a:solidFill>
          <a:ln w="12700">
            <a:solidFill>
              <a:srgbClr val="8A84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2834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32 dims  </a:t>
            </a:r>
            <a:pPr indent="0" marL="0">
              <a:buNone/>
            </a:pPr>
            <a:r>
              <a:rPr lang="en-US" sz="125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vecteur appris de zéro par mot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97280" y="3465576"/>
            <a:ext cx="118872" cy="118872"/>
          </a:xfrm>
          <a:prstGeom prst="ellipse">
            <a:avLst/>
          </a:prstGeom>
          <a:solidFill>
            <a:srgbClr val="8A847A"/>
          </a:solidFill>
          <a:ln w="12700">
            <a:solidFill>
              <a:srgbClr val="8A84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71600" y="32918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des mots  </a:t>
            </a:r>
            <a:pPr indent="0" marL="0">
              <a:buNone/>
            </a:pPr>
            <a:r>
              <a:rPr lang="en-US" sz="125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vecteur par SMS (padding ignoré)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97280" y="3922776"/>
            <a:ext cx="118872" cy="118872"/>
          </a:xfrm>
          <a:prstGeom prst="ellipse">
            <a:avLst/>
          </a:prstGeom>
          <a:solidFill>
            <a:srgbClr val="8A847A"/>
          </a:solidFill>
          <a:ln w="12700">
            <a:solidFill>
              <a:srgbClr val="8A84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71600" y="37490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64 ReLU + Dropout 30 %  </a:t>
            </a:r>
            <a:pPr indent="0" marL="0">
              <a:buNone/>
            </a:pPr>
            <a:r>
              <a:rPr lang="en-US" sz="125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combine, régularise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97280" y="4379976"/>
            <a:ext cx="118872" cy="118872"/>
          </a:xfrm>
          <a:prstGeom prst="ellipse">
            <a:avLst/>
          </a:prstGeom>
          <a:solidFill>
            <a:srgbClr val="8A847A"/>
          </a:solidFill>
          <a:ln w="12700">
            <a:solidFill>
              <a:srgbClr val="8A84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371600" y="4206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Sigmoïde  </a:t>
            </a:r>
            <a:pPr indent="0" marL="0">
              <a:buNone/>
            </a:pPr>
            <a:r>
              <a:rPr lang="en-US" sz="125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 de spam, seuil 0,5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97280" y="4837176"/>
            <a:ext cx="118872" cy="118872"/>
          </a:xfrm>
          <a:prstGeom prst="ellipse">
            <a:avLst/>
          </a:prstGeom>
          <a:solidFill>
            <a:srgbClr val="8A847A"/>
          </a:solidFill>
          <a:ln w="12700">
            <a:solidFill>
              <a:srgbClr val="8A847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71600" y="46634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Entropie croisée binaire  </a:t>
            </a:r>
            <a:pPr indent="0" marL="0">
              <a:buNone/>
            </a:pPr>
            <a:r>
              <a:rPr lang="en-US" sz="125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×6,9 sur le spam, early stopping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97280" y="5349240"/>
            <a:ext cx="4434840" cy="0"/>
          </a:xfrm>
          <a:prstGeom prst="line">
            <a:avLst/>
          </a:prstGeom>
          <a:noFill/>
          <a:ln w="9525">
            <a:solidFill>
              <a:srgbClr val="E4DDD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97280" y="5440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0,32 M paramètres · ~2 s · CPU · 8 epochs (meilleure : 4)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1691640"/>
            <a:ext cx="507492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62940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5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2 · PRÉ-ENTRAÎNÉ (TRANSFER LEARNING)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2240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DistilBERT fine-tuné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6629400" y="3008376"/>
            <a:ext cx="118872" cy="118872"/>
          </a:xfrm>
          <a:prstGeom prst="ellipse">
            <a:avLst/>
          </a:prstGeom>
          <a:solidFill>
            <a:srgbClr val="B5503F"/>
          </a:solidFill>
          <a:ln w="12700">
            <a:solidFill>
              <a:srgbClr val="B5503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03720" y="2834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pré-entraîné  </a:t>
            </a:r>
            <a:pPr indent="0" marL="0">
              <a:buNone/>
            </a:pPr>
            <a:r>
              <a:rPr lang="en-US" sz="125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milliards de mots (Wikipédia, livres)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629400" y="3465576"/>
            <a:ext cx="118872" cy="118872"/>
          </a:xfrm>
          <a:prstGeom prst="ellipse">
            <a:avLst/>
          </a:prstGeom>
          <a:solidFill>
            <a:srgbClr val="B5503F"/>
          </a:solidFill>
          <a:ln w="12700">
            <a:solidFill>
              <a:srgbClr val="B5503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03720" y="32918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Distillé de BERT  </a:t>
            </a:r>
            <a:pPr indent="0" marL="0">
              <a:buNone/>
            </a:pPr>
            <a:r>
              <a:rPr lang="en-US" sz="125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−40 % de paramètres, ~97 % de la performance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29400" y="3922776"/>
            <a:ext cx="118872" cy="118872"/>
          </a:xfrm>
          <a:prstGeom prst="ellipse">
            <a:avLst/>
          </a:prstGeom>
          <a:solidFill>
            <a:srgbClr val="B5503F"/>
          </a:solidFill>
          <a:ln w="12700">
            <a:solidFill>
              <a:srgbClr val="B5503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03720" y="37490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brut + WordPiece  </a:t>
            </a:r>
            <a:pPr indent="0" marL="0">
              <a:buNone/>
            </a:pPr>
            <a:r>
              <a:rPr lang="en-US" sz="125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chiffres et ponctuation gardés (signaux)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629400" y="4379976"/>
            <a:ext cx="118872" cy="118872"/>
          </a:xfrm>
          <a:prstGeom prst="ellipse">
            <a:avLst/>
          </a:prstGeom>
          <a:solidFill>
            <a:srgbClr val="B5503F"/>
          </a:solidFill>
          <a:ln w="12700">
            <a:solidFill>
              <a:srgbClr val="B5503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903720" y="4206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Tête de classification  </a:t>
            </a:r>
            <a:pPr indent="0" marL="0">
              <a:buNone/>
            </a:pPr>
            <a:r>
              <a:rPr lang="en-US" sz="125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logits, softmax, probabilité de spam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629400" y="4837176"/>
            <a:ext cx="118872" cy="118872"/>
          </a:xfrm>
          <a:prstGeom prst="ellipse">
            <a:avLst/>
          </a:prstGeom>
          <a:solidFill>
            <a:srgbClr val="B5503F"/>
          </a:solidFill>
          <a:ln w="12700">
            <a:solidFill>
              <a:srgbClr val="B5503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03720" y="46634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Entropie croisée  </a:t>
            </a:r>
            <a:pPr indent="0" marL="0">
              <a:buNone/>
            </a:pPr>
            <a:r>
              <a:rPr lang="en-US" sz="125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AdamW, lr 2e-5, meilleure epoch (validation)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629400" y="5349240"/>
            <a:ext cx="4434840" cy="0"/>
          </a:xfrm>
          <a:prstGeom prst="line">
            <a:avLst/>
          </a:prstGeom>
          <a:noFill/>
          <a:ln w="9525">
            <a:solidFill>
              <a:srgbClr val="E4DDD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29400" y="5440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5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M paramètres · ~3 min · Apple Silicon / GPU · 3 epochs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3/4 · RÉSULTATS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772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Même rappel, 14 fois moins de faux blocages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Deldicque  ·  AT&amp;T Spam Detector  ·  Bloc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5554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691640"/>
            <a:ext cx="47548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097280" y="1920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du spam sur le jeu de test (plus c'est haut, mieux c'est)</a:t>
            </a:r>
            <a:endParaRPr lang="en-US" sz="12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914400" y="2331720"/>
          <a:ext cx="44805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897880" y="1691640"/>
            <a:ext cx="548640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21792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jeu de test (1 034 SMS), seuil 0,5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377440"/>
          <a:ext cx="48463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A8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Réseau simple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A8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DistilBERT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D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A8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Précision spam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3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A8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Rappel spam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3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A8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spam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3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55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A8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A8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Spams attrapés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55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A8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Spams passés au travers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3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A8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Vrais messages bloqués à tort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3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6217920" y="5440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modèles attrapent 124 spams sur 131. DistilBERT ne bloque qu'un seul message légitime sur 903, contre 14 pour le réseau simple.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61264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de F1 spam : +0,047, obtenu sur la précision : le modèle pré-entraîné distingue un vrai spam d'un message légitime au vocabulaire commercial.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4/4 · DU MODÈLE À LA DÉCISION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772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seuil est un choix métier, pas un défaut à 0,5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Deldicque  ·  AT&amp;T Spam Detector  ·  Bloc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5554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691640"/>
            <a:ext cx="530352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09728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Bloquer un vrai SMS coûte plus cher que laisser passer un spam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3317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donne une probabilité ; c'est le seuil qui décide. On le règle sur la validation pour viser ≥ 98 % de précision (presque aucun vrai message bloqué), puis on mesure sur le test : le réseau simple s'effondre, DistilBERT tient.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3337560"/>
          <a:ext cx="46634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280160"/>
                <a:gridCol w="12801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A8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Réseau simple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D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A8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DistilBERT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DE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A8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Seuil retenu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A8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Précision (test)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3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A8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Rappel (test)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55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E7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A8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Vrais messages bloqués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3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A8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Spams passés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55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E7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1097280" y="5486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probabilités de DistilBERT sont bien séparées (spams près de 1, ham près de 0) : robustes au seuil. Celles du réseau simple ne le sont pas.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46520" y="1691640"/>
            <a:ext cx="493776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766560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DistilBERT rate encore (analyse des erreurs)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766560" y="237744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B5503F"/>
          </a:solidFill>
          <a:ln w="12700">
            <a:solidFill>
              <a:srgbClr val="B5503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66560" y="2377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manqué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6766560" y="269748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In The Simpsons Movie released in July 2007 name the band that died at the start of the film? A-Green Day… »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766560" y="315468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promotionnel sans numéro surtaxé ni « FREE » : p(spam) = 0,02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766560" y="3364992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B5503F"/>
          </a:solidFill>
          <a:ln w="12700">
            <a:solidFill>
              <a:srgbClr val="B5503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766560" y="33649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manqué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6766560" y="368503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Would you like to see my XXX pics they are so hot they were nearly banned in the uk! »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766560" y="414223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Rédigé comme un message personnel : p(spam) = 0,10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766560" y="4352544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5E7A5A"/>
          </a:solidFill>
          <a:ln w="12700">
            <a:solidFill>
              <a:srgbClr val="5E7A5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766560" y="43525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bloqué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6766560" y="467258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Your bill at 3 is £33.65 so thats not bad! »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6766560" y="512978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en £ = signal de spam appris : p(spam) = 0,74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6766560" y="53949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spams manqués, 1 seul faux blocage. Les erreurs des deux modèles se recouvrent peu (5 communes) : piste d'une cascade de modèles.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DU PROJET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772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le modèle ne sait pas encore faire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Deldicque  ·  AT&amp;T Spam Detector  ·  Bloc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5554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783080"/>
            <a:ext cx="51663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2148840"/>
            <a:ext cx="146304" cy="146304"/>
          </a:xfrm>
          <a:prstGeom prst="ellipse">
            <a:avLst/>
          </a:prstGeom>
          <a:solidFill>
            <a:srgbClr val="B5503F"/>
          </a:solidFill>
          <a:ln w="12700">
            <a:solidFill>
              <a:srgbClr val="B550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20116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Petit jeu de données, ancien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51460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5 169 SMS uniques (anglais, années 2010) suffisent pour une preuve de concept, pas pour couvrir les spams d'aujourd'hui : emojis, liens raccourcis, contournements.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51663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2148840"/>
            <a:ext cx="146304" cy="146304"/>
          </a:xfrm>
          <a:prstGeom prst="ellipse">
            <a:avLst/>
          </a:prstGeom>
          <a:solidFill>
            <a:srgbClr val="B5503F"/>
          </a:solidFill>
          <a:ln w="12700">
            <a:solidFill>
              <a:srgbClr val="B550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0" y="20116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Anglais seulement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251460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ne marche pas tel quel sur d'autres langues : passer à un DistilBERT multilingue.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3886200"/>
            <a:ext cx="51663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7280" y="4251960"/>
            <a:ext cx="146304" cy="146304"/>
          </a:xfrm>
          <a:prstGeom prst="ellipse">
            <a:avLst/>
          </a:prstGeom>
          <a:solidFill>
            <a:srgbClr val="B5503F"/>
          </a:solidFill>
          <a:ln w="12700">
            <a:solidFill>
              <a:srgbClr val="B5503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417320" y="41148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spam évolue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61772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suivi de dérive et réentraînement périodique, le modèle vieillit et se dégrade.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886200"/>
            <a:ext cx="51663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37960" y="4251960"/>
            <a:ext cx="146304" cy="146304"/>
          </a:xfrm>
          <a:prstGeom prst="ellipse">
            <a:avLst/>
          </a:prstGeom>
          <a:solidFill>
            <a:srgbClr val="B5503F"/>
          </a:solidFill>
          <a:ln w="12700">
            <a:solidFill>
              <a:srgbClr val="B550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0" y="41148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Coût d'inférence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461772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M de paramètres pour des millions de SMS : quantification, ou réseau simple en premier filtre et DistilBERT sur les cas incertains.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3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2344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DistilBERT en production, avec un seuil réglé métier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578608"/>
            <a:ext cx="137160" cy="137160"/>
          </a:xfrm>
          <a:prstGeom prst="ellipse">
            <a:avLst/>
          </a:prstGeom>
          <a:solidFill>
            <a:srgbClr val="B5503F"/>
          </a:solidFill>
          <a:ln w="12700">
            <a:solidFill>
              <a:srgbClr val="B550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24231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déséquilibrées :  </a:t>
            </a:r>
            <a:pPr indent="0" marL="0">
              <a:buNone/>
            </a:pPr>
            <a:r>
              <a:rPr lang="en-US" sz="14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87 % légitimes / 13 % spams, doublons retirés. On suit le F1 du spam, pas l'accuracy.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3355848"/>
            <a:ext cx="137160" cy="137160"/>
          </a:xfrm>
          <a:prstGeom prst="ellipse">
            <a:avLst/>
          </a:prstGeom>
          <a:solidFill>
            <a:srgbClr val="B5503F"/>
          </a:solidFill>
          <a:ln w="12700">
            <a:solidFill>
              <a:srgbClr val="B550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32004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transformé en nombres :  </a:t>
            </a:r>
            <a:pPr indent="0" marL="0">
              <a:buNone/>
            </a:pPr>
            <a:r>
              <a:rPr lang="en-US" sz="14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nettoyage, jetons, même longueur pour le réseau simple ; texte brut + WordPiece pour DistilBERT. Tokenizer appris sur le train seulement.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133088"/>
            <a:ext cx="137160" cy="137160"/>
          </a:xfrm>
          <a:prstGeom prst="ellipse">
            <a:avLst/>
          </a:prstGeom>
          <a:solidFill>
            <a:srgbClr val="B5503F"/>
          </a:solidFill>
          <a:ln w="12700">
            <a:solidFill>
              <a:srgbClr val="B550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39776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modèles, mêmes données :  </a:t>
            </a:r>
            <a:pPr indent="0" marL="0">
              <a:buNone/>
            </a:pPr>
            <a:r>
              <a:rPr lang="en-US" sz="14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simple entraîné de zéro (F1 0,922) puis DistilBERT fine-tuné (F1 0,969).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4910328"/>
            <a:ext cx="137160" cy="137160"/>
          </a:xfrm>
          <a:prstGeom prst="ellipse">
            <a:avLst/>
          </a:prstGeom>
          <a:solidFill>
            <a:srgbClr val="B5503F"/>
          </a:solidFill>
          <a:ln w="12700">
            <a:solidFill>
              <a:srgbClr val="B550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47548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:  </a:t>
            </a:r>
            <a:pPr indent="0" marL="0">
              <a:buNone/>
            </a:pPr>
            <a:r>
              <a:rPr lang="en-US" sz="14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: 1 seul message légitime bloqué sur 903 (contre 14), même rappel ; seuil ~0,6 réglé sur la validation. Le gain justifie le coût.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943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 ·  Questions ?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577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Annexes : ce que l'embedding a appris · ce que le fine-tuning a changé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6035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Deldicque   ·   Jedha CDSD   ·   Bloc 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PREUVE · MODÈLE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772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la couche d'embedding a appris toute seule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Deldicque  ·  AT&amp;T Spam Detector  ·  Bloc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5554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691640"/>
            <a:ext cx="3931920" cy="434340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051560" y="1874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proches voisins (similarité cosinus) dans l'espace appris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51560" y="242316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B5503F"/>
          </a:solidFill>
          <a:ln w="12700">
            <a:solidFill>
              <a:srgbClr val="B550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4231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011680" y="24231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urgent, txt, mobile, stop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51560" y="292608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B5503F"/>
          </a:solidFill>
          <a:ln w="12700">
            <a:solidFill>
              <a:srgbClr val="B550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292608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292608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txt, tone, mobile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51560" y="342900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B5503F"/>
          </a:solidFill>
          <a:ln w="12700">
            <a:solidFill>
              <a:srgbClr val="B550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342900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011680" y="342900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call, guaranteed, new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51560" y="393192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5E7A5A"/>
          </a:solidFill>
          <a:ln w="12700">
            <a:solidFill>
              <a:srgbClr val="5E7A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1560" y="393192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011680" y="393192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going, said, sorry, still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51560" y="443484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5E7A5A"/>
          </a:solidFill>
          <a:ln w="12700">
            <a:solidFill>
              <a:srgbClr val="5E7A5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443484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011680" y="443484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she, he, got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51560" y="493776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5E7A5A"/>
          </a:solidFill>
          <a:ln w="12700">
            <a:solidFill>
              <a:srgbClr val="5E7A5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51560" y="49377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011680" y="49377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still, said, boy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4864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dictionnaire fourni : ces proximités émergent du seul objectif « ham ou spam ». Le jeton £ (montants) ressort aussi côté spam.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83480" y="1691640"/>
            <a:ext cx="640080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5303520" y="18745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2D (PCA) des 80 mots les plus fréquents, colorés par taux de spam</a:t>
            </a:r>
            <a:endParaRPr lang="en-US" sz="12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4012" y="2240280"/>
            <a:ext cx="5519736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PREUVE · MODÈLE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772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le fine-tuning a changé, epoch par epoch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Deldicque  ·  AT&amp;T Spam Detector  ·  Bloc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5554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691640"/>
            <a:ext cx="1060704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097280" y="1874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: entropie croisée (train / validation) et F1 spam de validation, 3 epochs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0305" y="2240280"/>
            <a:ext cx="7280910" cy="22402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4754880"/>
            <a:ext cx="33832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1051560" y="4846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5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0,96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53949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spam de validation dès la 1re epoch : le modèle pré-entraîné comprend la tâche immédiatement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89120" y="4754880"/>
            <a:ext cx="33832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663440" y="4846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5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0,971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4663440" y="53949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de validation à la 3e epoch, retenue. Au-delà, la perte train baisse mais la validation stagne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001000" y="4754880"/>
            <a:ext cx="33832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275320" y="4846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5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2e-5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53949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d'apprentissage, 50 fois plus petit que pour le modèle 1 : on ajuste sans effacer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2026-09-15T09:21:55Z</dcterms:created>
  <dcterms:modified xsi:type="dcterms:W3CDTF">2026-09-15T09:21:55Z</dcterms:modified>
</cp:coreProperties>
</file>