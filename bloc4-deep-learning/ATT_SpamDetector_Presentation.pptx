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Répartition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E7A5A"/>
              </a:solidFill>
              <a:effectLst/>
            </c:spPr>
          </c:dPt>
          <c:dPt>
            <c:idx val="1"/>
            <c:bubble3D val="0"/>
            <c:spPr>
              <a:solidFill>
                <a:srgbClr val="B5503F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Ham (légitime)</c:v>
                </c:pt>
                <c:pt idx="1">
                  <c:v>Spam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4825</c:v>
                </c:pt>
                <c:pt idx="1">
                  <c:v>747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23201C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 spam</c:v>
                </c:pt>
              </c:strCache>
            </c:strRef>
          </c:tx>
          <c:spPr>
            <a:solidFill>
              <a:srgbClr val="8A847A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2320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847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5503F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Réseau simple</c:v>
                  </c:pt>
                  <c:pt idx="1">
                    <c:v>DistilBERT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0.922</c:v>
                </c:pt>
                <c:pt idx="1">
                  <c:v>0.969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2320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320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Bloc 4 = données non structurées. Ici : du texte. Enjeu : transformer du texte en nombres qu'un réseau peut apprendre, puis comparer un réseau entraîné de zéro à un modèle pré-entraîné.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Déséquilibre = LE point méthodo. Accuracy trompeuse. F1 spam = précision (peu de vrais messages bloqués) × rappel (peu de spams ratés). Doublons retirés avant le split pour éviter la fuite du train vers le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: traducteur du texte vers les nombres. Point de rigueur : tokenizer fit sur le train uniquement, sinon fuite de données. Pour DistilBERT on ne nettoie PAS : son propre tokenizer WordPiece exploite chiffres et ponctuation (signaux de spam).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Baseline = élève débutant qui apprend tout de zéro sur 3 700 SMS. Pourquoi moyenne plutôt que LSTM : présence des mots &gt; ordre, messages courts, rapide. Pourquoi entropie croisée : fonction de coût naturelle d'une sortie probabiliste, pénalise fort une erreur confiante. Même fonction pour DistilBERT (2 logits). Mêmes jeux train/val/test pour les deux, donc comparaison à données égales.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Bulletin de notes sur la même épreuve (test jamais vu). Lire précision ET rappel : baseline plus prudente (peu de FP), DistilBERT attrape plus de spams. Le F1 tranche. Les nombres viennent des matrices de confusion du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Relance fréquente : précision ou rappel ? Dépend du coût métier. Ici FP plus grave, donc seuil &gt; 0,5, réglé sur la validation (jamais sur le test). Montrer les SMS mal classés prouve qu'on a regardé les données, pas seulement les scores.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Phrase de clôture : j'ai transformé du texte brut en nombres, comparé un réseau entraîné de zéro à un modèle pré-entraîné spécialisé, et le transfer learning gagne là où ça compte : il ne bloque presque plus jamais un vrai message. Plus de spams attrapés pour un coût maîtrisé.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GPS : tokenisation = matricule (identité), embedding = coordonnées dans un espace de sens. Définition : vecteur dense de réels, distance = similarité de rôle. Appris par rétropropagation comme les autres poids. Dans BERT, contextuel grâce à l'attention.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Analogie : diplômé de lettres embauché puis formé 2 jours sur nos spams. Petit learning rate = ne pas écraser ce qu'il sait (catastrophic forgetting). Alternative moins chère : geler l'encodeur, n'entraîner que la tête. Distillation = élève imite le professeur BERT.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POC. Dérive = les données changent, le modèle figé se dégrade, donc monitoring. Pas d'augmentation de données utilisée : le jeu suffit ; possible via synonymes / rétro-traduction sur la classe spam.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8745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les SMS frauduleux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233172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AT&amp;T Spam Detector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34290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Classer chaque SMS, légitime ou spam, à partir du texte seul.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5 572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étiquetés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06908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06908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modèles comparés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360920" y="47548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B550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0,969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360920" y="55321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spam du meilleur modèle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 ·   Jedha Data Science   ·   Certification CDSD, Bloc 4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LE PROBLÈME ET LES DONNÉES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Trier le légitime du frauduleux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8308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AT&amp;T reçoit des millions de SMS par jour. Les spams exposent les clients à des arnaques. On veut une décision automatique : ce message est-il légitime (ham) ou un spam ?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97180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Jeu de données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2971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5 572 SMS étiquetés · 403 doublons retirés, 5 169 uniques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502152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5387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Tâche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35387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binaire supervisée : ham (0) ou spam (1)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069080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105656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Déséquilibre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514600" y="4105656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ham / 13 % spam, classe spam pondérée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636008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725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Métrique suivie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514600" y="4672584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du spam (précision × rappel), pas l'accuracy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77240" y="5202936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23951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Découpage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2514600" y="523951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3 721 · validation 414 · test 1 034 (stratifié)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777240" y="5769864"/>
            <a:ext cx="539496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se répartissent les messages</a:t>
            </a:r>
            <a:endParaRPr lang="en-US" sz="1300" dirty="0"/>
          </a:p>
        </p:txBody>
      </p:sp>
      <p:graphicFrame>
        <p:nvGraphicFramePr>
          <p:cNvPr id="24" name="Chart 0" descr=""/>
          <p:cNvGraphicFramePr/>
          <p:nvPr/>
        </p:nvGraphicFramePr>
        <p:xfrm>
          <a:off x="6949440" y="2331720"/>
          <a:ext cx="42519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Text 22"/>
          <p:cNvSpPr txBox="1"/>
          <p:nvPr/>
        </p:nvSpPr>
        <p:spPr>
          <a:xfrm>
            <a:off x="7086600" y="51206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on prédit toujours « ham », on a 87 % d'accuracy… et 0 spam détecté. D'où le F1 du spam comme boussole.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PRÉPARER LE TEXTE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SMS brut à des nombres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réseau de neurones ne lit pas des mots, il lit des nombres. On transforme donc chaque message en une suite de nombres, en 3 étapes.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74320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6974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Nettoyer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17320" y="3017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 en minuscules ; on retire liens, chiffres et ponctuation.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77240" y="370332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703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6576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Découper en jetons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17320" y="397764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reçoit un numéro unique. Vocabulaire de 10 000 mots, appris sur le train uniquement.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7240" y="466344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177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Mettre à la même longueur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4937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complète avec des zéros (ou on tronque) à 64 jetons : 99 % des SMS tiennent dedans.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un exemple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086600" y="24231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SMS reçu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086600" y="2697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FREE WIN PRIZE! Call now 07777 »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7086600" y="32004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nettoyage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4747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win prize call now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97764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nombres (jetons)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51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5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[45, 302, 891, 77, 204]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086600" y="47548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après padding (64)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086600" y="50292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550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[45, 302, 891, 77, 204, 0, 0 … 0]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55321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tokenizer est appris sur le train seulement : le test contient des mots inconnus, comme en production.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LES DEUX MODÈLES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réseau simple, puis un modèle pré-entraîné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1 · DE RÉFÉRENCE (BASELINE)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+ réseau dense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1097280" y="30083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32 dims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vecteur appris de zéro par mot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1097280" y="34655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37160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Moyenne des mots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vecteur par SMS (padding ignoré)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97280" y="39227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37160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 ReLU + Dropout 30 %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combine, régularise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97280" y="43799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Sigmoïde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probabilité de spam, seuil 0,5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1097280" y="4837176"/>
            <a:ext cx="118872" cy="118872"/>
          </a:xfrm>
          <a:prstGeom prst="ellipse">
            <a:avLst/>
          </a:prstGeom>
          <a:solidFill>
            <a:srgbClr val="8A847A"/>
          </a:solidFill>
          <a:ln w="12700">
            <a:solidFill>
              <a:srgbClr val="8A847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37160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Entropie croisée binaire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poids ×6,9 sur le spam, early stopping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1097280" y="5349240"/>
            <a:ext cx="443484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9728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 M paramètres · ~2 s · CPU · 8 epochs (meilleure : 4)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309360" y="1691640"/>
            <a:ext cx="5074920" cy="4343400"/>
          </a:xfrm>
          <a:prstGeom prst="roundRect">
            <a:avLst>
              <a:gd name="adj" fmla="val 2526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629400" y="1920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2 · PRÉ-ENTRAÎNÉ (TRANSFER LEARNING)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29400" y="22402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DistilBERT fine-tuné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6629400" y="30083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903720" y="2834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Transformer pré-entraîné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milliards de mots (Wikipédia, livres)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29400" y="34655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32918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Distillé de BERT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−40 % de paramètres, ~97 % de la performance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629400" y="39227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903720" y="3749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brut + WordPiece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chiffres et ponctuation gardés (signaux)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629400" y="43799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903720" y="4206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Tête de classification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logits, softmax, probabilité de spam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629400" y="48371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03720" y="46634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Entropie croisée  </a:t>
            </a:r>
            <a:pPr indent="0" marL="0">
              <a:buNone/>
            </a:pPr>
            <a:r>
              <a:rPr lang="en-US" sz="12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AdamW, lr 2e-5, meilleure epoch (validation)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6629400" y="5349240"/>
            <a:ext cx="4434840" cy="0"/>
          </a:xfrm>
          <a:prstGeom prst="line">
            <a:avLst/>
          </a:prstGeom>
          <a:noFill/>
          <a:ln w="9525">
            <a:solidFill>
              <a:srgbClr val="E4DDD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62940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 M paramètres · ~3 min · Apple Silicon / GPU · 3 epochs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RÉSULTATS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Même rappel, 14 fois moins de faux blocages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47548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du spam sur le jeu de test (plus c'est haut, mieux c'est)</a:t>
            </a:r>
            <a:endParaRPr lang="en-US" sz="12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914400" y="2331720"/>
          <a:ext cx="44805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897880" y="1691640"/>
            <a:ext cx="548640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21792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jeu de test (1 034 SMS), seuil 0,5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377440"/>
          <a:ext cx="48463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Précision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Rappel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spam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0,969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attrapés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passés au travers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Vrais messages bloqués à tort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6217920" y="54406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modèles attrapent 124 spams sur 131. DistilBERT ne bloque qu'un seul message légitime sur 903, contre 14 pour le réseau simple.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777240" y="61264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de F1 spam : +0,047, obtenu sur la précision : le modèle pré-entraîné distingue un vrai spam d'un message légitime au vocabulaire commercial.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DU MODÈLE À LA DÉCISION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seuil est un choix métier, pas un défaut à 0,5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691640"/>
            <a:ext cx="53035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1097280" y="19202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Bloquer un vrai SMS coûte plus cher que laisser passer un spam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3317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donne une probabilité ; c'est le seuil qui décide. On le règle sur la validation pour viser ≥ 98 % de précision (presque aucun vrai message bloqué), puis on mesure sur le test : le réseau simple s'effondre, DistilBERT tient.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97280" y="3337560"/>
          <a:ext cx="4663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28016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Réseau simple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DistilBERT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DE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Seuil retenu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Précision (test)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Rappel (test)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Vrais messages bloqués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0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8A84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Spams passés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B550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E7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1097280" y="54864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probabilités de DistilBERT sont bien séparées (spams près de 1, ham près de 0) : robustes au seuil. Celles du réseau simple ne le sont pas.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446520" y="1691640"/>
            <a:ext cx="493776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6766560" y="19202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DistilBERT rate encore (analyse des erreurs)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766560" y="237744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766560" y="23774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manqué</a:t>
            </a:r>
            <a:endParaRPr lang="en-US" sz="95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6974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In The Simpsons Movie released in July 2007 name the band that died at the start of the film? A-Green Day… »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315468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promotionnel sans numéro surtaxé ni « FREE » : p(spam) = 0,02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766560" y="3364992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66560" y="336499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spam manqué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6766560" y="36850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Would you like to see my XXX pics they are so hot they were nearly banned in the uk! »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6766560" y="4142232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Rédigé comme un message personnel : p(spam) = 0,10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766560" y="4352544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766560" y="435254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bloqué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6766560" y="467258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Your bill at 3 is £33.65 so thats not bad! »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6766560" y="5129784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en £ = signal de spam appris : p(spam) = 0,74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6766560" y="5394960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spams manqués, 1 seul faux blocage. Les erreurs des deux modèles se recouvrent peu (5 communes) : piste d'une cascade de modèles.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686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RÉSUMÉ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344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DistilBERT en production, avec un seuil réglé métier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257860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43000" y="24231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déséquilibrées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87 % légitimes / 13 % spams, doublons retirés. On suit le F1 du spam, pas l'accuracy.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335584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320040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transformé en nombres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nettoyage, jetons, même longueur pour le réseau simple ; texte brut + WordPiece pour DistilBERT. Tokenizer appris sur le train seulement.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413308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43000" y="39776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modèles, mêmes données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simple entraîné de zéro (F1 0,922) puis DistilBERT fine-tuné (F1 0,969).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77240" y="4910328"/>
            <a:ext cx="137160" cy="13716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7548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Recommandation :  </a:t>
            </a:r>
            <a:pPr indent="0" marL="0">
              <a:buNone/>
            </a:pPr>
            <a:r>
              <a:rPr lang="en-US" sz="1400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: 1 seul message légitime bloqué sur 903 (contre 14), même rappel ; seuil ~0,6 réglé sur la validation. Le gain justifie le coût.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59436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 ·  Questions ?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C9C2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Annexes : embedding · fine-tuning · limites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 ·   Jedha CDSD   ·   Bloc 4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LA BRIQUE CLÉ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Qu'est-ce qu'un embedding ?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1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numéro de jeton n'a aucun sens : « free » = 45 et « win » = 302 ne sont pas « proches ». L'embedding donne à chaque mot des coordonnées dans un espace où la distance a un sens.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305409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880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Vecteur dense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mot devient 32 nombres réels (10 000 mots × 32 = la matrice d'embedding)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77240" y="364845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51560" y="34747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Appris pendant l'entraînement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départ aléatoire ; l'objectif « ham ou spam » rapproche les mots qui jouent le même rôle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77240" y="424281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51560" y="4069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Proximité = sens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mots proches dans l'espace = rôle similaire dans la décision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" y="4837176"/>
            <a:ext cx="118872" cy="118872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51560" y="46634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DistilBERT  </a:t>
            </a:r>
            <a:pPr indent="0" marL="0">
              <a:buNone/>
            </a:pPr>
            <a:r>
              <a:rPr lang="en-US" sz="13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contextuels : le vecteur de « free » change selon la phrase (attention)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5349240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Vérifié dans le notebook (plus proches voisins, cosinus) : « prize » est proche de urgent, txt, mobile, stop ; « ok » de going, said, sorry, still. Le jeton « £ » (montants) ressort aussi côté spam.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691640"/>
            <a:ext cx="461772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86600" y="1920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L'espace appris par le modèle 1 (projection 2D)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040880" y="2468880"/>
            <a:ext cx="2103120" cy="2377440"/>
          </a:xfrm>
          <a:prstGeom prst="ellipse">
            <a:avLst/>
          </a:prstGeom>
          <a:solidFill>
            <a:srgbClr val="F6E4E0"/>
          </a:solidFill>
          <a:ln w="12700">
            <a:solidFill>
              <a:srgbClr val="F6E4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0" y="3108960"/>
            <a:ext cx="2103120" cy="2377440"/>
          </a:xfrm>
          <a:prstGeom prst="ellipse">
            <a:avLst/>
          </a:prstGeom>
          <a:solidFill>
            <a:srgbClr val="E4EBE0"/>
          </a:solidFill>
          <a:ln w="12700">
            <a:solidFill>
              <a:srgbClr val="E4EB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269480" y="2743200"/>
            <a:ext cx="68580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269480" y="274320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092440" y="2606040"/>
            <a:ext cx="5943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92440" y="260604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06640" y="32461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406640" y="32461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prize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83880" y="32004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83880" y="32004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7315200" y="3794760"/>
            <a:ext cx="5943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315200" y="3794760"/>
            <a:ext cx="594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txt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01000" y="384048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01000" y="384048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543800" y="4343400"/>
            <a:ext cx="822960" cy="329184"/>
          </a:xfrm>
          <a:prstGeom prst="roundRect">
            <a:avLst>
              <a:gd name="adj" fmla="val 50000"/>
            </a:avLst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543800" y="4343400"/>
            <a:ext cx="822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9372600" y="342900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372600" y="342900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10058400" y="329184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0" y="329184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9418320" y="39319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9418320" y="393192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10195560" y="38862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195560" y="388620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sorry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9555480" y="4480560"/>
            <a:ext cx="64008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555480" y="44805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said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10287000" y="4480560"/>
            <a:ext cx="54864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287000" y="44805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endParaRPr lang="en-US" sz="1150" dirty="0"/>
          </a:p>
        </p:txBody>
      </p:sp>
      <p:sp>
        <p:nvSpPr>
          <p:cNvPr id="46" name="Shape 44"/>
          <p:cNvSpPr/>
          <p:nvPr/>
        </p:nvSpPr>
        <p:spPr>
          <a:xfrm>
            <a:off x="9692640" y="498348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5E7A5A"/>
          </a:solidFill>
          <a:ln w="12700">
            <a:solidFill>
              <a:srgbClr val="5E7A5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692640" y="4983480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endParaRPr lang="en-US" sz="1150" dirty="0"/>
          </a:p>
        </p:txBody>
      </p:sp>
      <p:sp>
        <p:nvSpPr>
          <p:cNvPr id="48" name="Text 46"/>
          <p:cNvSpPr txBox="1"/>
          <p:nvPr/>
        </p:nvSpPr>
        <p:spPr>
          <a:xfrm>
            <a:off x="7086600" y="49834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« spam »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9509760" y="5532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5E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région « ham »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7086600" y="5623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d'après la projection PCA du notebook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TRANSFER LEARNING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fine-tuning : spécialiser un modèle qui sait déjà lire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2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17373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Avec 3 700 SMS on ne peut pas apprendre l'anglais. On part donc d'un modèle qui l'a déjà appris, et on l'ajuste à notre tâche.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77724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05156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5156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64592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Pré-entraînement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DistilBERT a appris à deviner des mots masqués dans des milliards de phrases. Il connaît la langue, la grammaire, le contexte.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une fois, par HuggingFace.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8912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25780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Ajout d'une tête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pose au-dessus une petite couche de décision à 2 sorties (ham / spam), initialisée au hasard.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morceau vraiment nouveau.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2468880"/>
            <a:ext cx="338328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275320" y="2697480"/>
            <a:ext cx="457200" cy="457200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75320" y="2697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86968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Ajustement fin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75320" y="329184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continue l'entraînement de tout le réseau sur nos SMS avec un pas très petit (lr 2e-5), 3 epochs, warm-up, meilleure epoch choisie sur la validation.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75320" y="470916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 pas = on ajuste sans effacer.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5486400"/>
            <a:ext cx="10607040" cy="685800"/>
          </a:xfrm>
          <a:prstGeom prst="roundRect">
            <a:avLst>
              <a:gd name="adj" fmla="val 16000"/>
            </a:avLst>
          </a:prstGeom>
          <a:solidFill>
            <a:srgbClr val="F3EDE2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1051560" y="553212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pas « from scratch » ?  </a:t>
            </a:r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 peu de données pour apprendre la langue ET la tâche. Le pré-entraînement apporte la langue ; nos SMS n'ont plus qu'à apporter la tâche. C'est ce transfert qui fait gagner +0,047 de F1 spam.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02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B55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· LIMITES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77724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le modèle ne sait pas encore faire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Marine Deldicque  ·  AT&amp;T Spam Detector  ·  Bloc 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955548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Annexe 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97280" y="214884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41732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Petit jeu de données, ancien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5 169 SMS uniques (anglais, années 2010) suffisent pour une preuve de concept, pas pour couvrir les spams d'aujourd'hui : emojis, liens raccourcis, contournements.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78308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214884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0" y="20116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Anglais seulement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0" y="251460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modèle ne marche pas tel quel sur d'autres langues : passer à un DistilBERT multilingue.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88620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1097280" y="425196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417320" y="4114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spam évolue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suivi de dérive et réentraînement périodique, le modèle vieillit et se dégrade.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17920" y="3886200"/>
            <a:ext cx="51663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4DDD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537960" y="4251960"/>
            <a:ext cx="146304" cy="146304"/>
          </a:xfrm>
          <a:prstGeom prst="ellipse">
            <a:avLst/>
          </a:prstGeom>
          <a:solidFill>
            <a:srgbClr val="B5503F"/>
          </a:solidFill>
          <a:ln w="12700">
            <a:solidFill>
              <a:srgbClr val="B550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41148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01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Coût d'inférence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0" y="4617720"/>
            <a:ext cx="4297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A84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M de paramètres pour des millions de SMS : quantification, ou réseau simple en premier filtre et DistilBERT sur les cas incertains.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2026-09-15T09:04:11Z</dcterms:created>
  <dcterms:modified xsi:type="dcterms:W3CDTF">2026-09-15T09:04:11Z</dcterms:modified>
</cp:coreProperties>
</file>