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0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64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9018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Challenge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la souscription à une newsletter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606040" cy="438912"/>
          </a:xfrm>
          <a:prstGeom prst="rect">
            <a:avLst/>
          </a:prstGeom>
          <a:solidFill>
            <a:srgbClr val="2A3F55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284 580 lignes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83280" y="2057400"/>
            <a:ext cx="2606040" cy="438912"/>
          </a:xfrm>
          <a:prstGeom prst="rect">
            <a:avLst/>
          </a:prstGeom>
          <a:solidFill>
            <a:srgbClr val="2A3F55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383280" y="205740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· Métrique officielle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2057400"/>
            <a:ext cx="2606040" cy="438912"/>
          </a:xfrm>
          <a:prstGeom prst="rect">
            <a:avLst/>
          </a:prstGeom>
          <a:solidFill>
            <a:srgbClr val="2A3F55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217920" y="205740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GridSearchCV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8046720" cy="1463040"/>
          </a:xfrm>
          <a:prstGeom prst="rect">
            <a:avLst/>
          </a:prstGeom>
          <a:solidFill>
            <a:srgbClr val="162435"/>
          </a:solidFill>
          <a:ln w="12700">
            <a:solidFill>
              <a:srgbClr val="1624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1737360" cy="1188720"/>
          </a:xfrm>
          <a:prstGeom prst="rect">
            <a:avLst/>
          </a:prstGeom>
          <a:solidFill>
            <a:srgbClr val="1E3348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Contexte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2926080"/>
            <a:ext cx="1737360" cy="1188720"/>
          </a:xfrm>
          <a:prstGeom prst="rect">
            <a:avLst/>
          </a:prstGeom>
          <a:solidFill>
            <a:srgbClr val="1E3348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743200" y="292608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EDA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1737360" cy="1188720"/>
          </a:xfrm>
          <a:prstGeom prst="rect">
            <a:avLst/>
          </a:prstGeom>
          <a:solidFill>
            <a:srgbClr val="1E3348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754880" y="292608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Modélisation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2926080"/>
            <a:ext cx="1737360" cy="1188720"/>
          </a:xfrm>
          <a:prstGeom prst="rect">
            <a:avLst/>
          </a:prstGeom>
          <a:solidFill>
            <a:srgbClr val="1E3348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766560" y="292608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Résultats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Jedha · Marine Deldicque · Classification supervisée · 2026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863840" y="48280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Contexte &amp; Problématique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863840" y="48280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datascienceweekly.org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indépendante sur la data science, ouverte à tous. L'équipe souhaite comprendre le comportement des visiteurs pour améliorer son taux de conversion.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3657600" cy="402336"/>
          </a:xfrm>
          <a:prstGeom prst="rect">
            <a:avLst/>
          </a:prstGeom>
          <a:solidFill>
            <a:srgbClr val="E8FAF8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</a:rPr>
              <a:t>284 580 </a:t>
            </a:r>
            <a:r>
              <a:rPr lang="en-US" sz="1200" dirty="0">
                <a:solidFill>
                  <a:srgbClr val="718096"/>
                </a:solidFill>
              </a:rPr>
              <a:t>lignes (train)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64408"/>
            <a:ext cx="3657600" cy="402336"/>
          </a:xfrm>
          <a:prstGeom prst="rect">
            <a:avLst/>
          </a:prstGeom>
          <a:solidFill>
            <a:srgbClr val="FEF5E0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85800" y="3264408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</a:rPr>
              <a:t>5 </a:t>
            </a:r>
            <a:r>
              <a:rPr lang="en-US" sz="1200" dirty="0">
                <a:solidFill>
                  <a:srgbClr val="718096"/>
                </a:solidFill>
              </a:rPr>
              <a:t>features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39896"/>
            <a:ext cx="3657600" cy="402336"/>
          </a:xfrm>
          <a:prstGeom prst="rect">
            <a:avLst/>
          </a:prstGeom>
          <a:solidFill>
            <a:srgbClr val="E8F7FD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85800" y="3739896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</a:rPr>
              <a:t>Kaggle-style </a:t>
            </a:r>
            <a:r>
              <a:rPr lang="en-US" sz="1200" dirty="0">
                <a:solidFill>
                  <a:srgbClr val="718096"/>
                </a:solidFill>
              </a:rPr>
              <a:t>compétition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804672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937760" y="960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13258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si un visiteur va s'abonner (variable cible : converted = 0/1)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officielle : F1-score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10312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disponibles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37760" y="2468880"/>
            <a:ext cx="3657600" cy="402336"/>
          </a:xfrm>
          <a:prstGeom prst="rect">
            <a:avLst/>
          </a:prstGeom>
          <a:solidFill>
            <a:srgbClr val="F7F9FC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029200" y="246888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903720" y="246888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Catégorielle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2926080"/>
            <a:ext cx="3657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029200" y="292608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03720" y="292608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Numérique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3383280"/>
            <a:ext cx="3657600" cy="402336"/>
          </a:xfrm>
          <a:prstGeom prst="rect">
            <a:avLst/>
          </a:prstGeom>
          <a:solidFill>
            <a:srgbClr val="F7F9FC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029200" y="338328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new_user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903720" y="338328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Binaire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3840480"/>
            <a:ext cx="3657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029200" y="384048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903720" y="384048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Catégorielle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4297680"/>
            <a:ext cx="3657600" cy="402336"/>
          </a:xfrm>
          <a:prstGeom prst="rect">
            <a:avLst/>
          </a:prstGeom>
          <a:solidFill>
            <a:srgbClr val="F7F9FC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029200" y="429768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total_pages_visited ★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903720" y="429768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Numérique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EDA : Déséquilibre de classes &amp; variable dominante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 la cible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1325880"/>
            <a:ext cx="1005840" cy="2286000"/>
          </a:xfrm>
          <a:prstGeom prst="rect">
            <a:avLst/>
          </a:prstGeom>
          <a:solidFill>
            <a:srgbClr val="F687B3"/>
          </a:solidFill>
          <a:ln w="12700">
            <a:solidFill>
              <a:srgbClr val="F687B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77240" y="1188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275,432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6576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 (0)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1720" y="3383280"/>
            <a:ext cx="1005840" cy="2286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240280" y="3246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9,148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40280" y="36576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 (1)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4407408"/>
            <a:ext cx="4114800" cy="502920"/>
          </a:xfrm>
          <a:prstGeom prst="rect">
            <a:avLst/>
          </a:prstGeom>
          <a:solidFill>
            <a:srgbClr val="FFF0F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84048" y="4425696"/>
            <a:ext cx="398678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Seulement 3.2% de conversions → l'Accuracy est inutile, le F1-score est obligatoire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804672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937760" y="91440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conversion par pages visitées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74920" y="3493255"/>
            <a:ext cx="640080" cy="27185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0" y="3218935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3566160"/>
            <a:ext cx="749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pages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43600" y="3438885"/>
            <a:ext cx="640080" cy="81555"/>
          </a:xfrm>
          <a:prstGeom prst="rect">
            <a:avLst/>
          </a:prstGeom>
          <a:solidFill>
            <a:srgbClr val="85C1E9"/>
          </a:solidFill>
          <a:ln w="12700">
            <a:solidFill>
              <a:srgbClr val="85C1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897880" y="3164565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97880" y="3566160"/>
            <a:ext cx="749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4-7 pages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12280" y="3003928"/>
            <a:ext cx="640080" cy="51651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766560" y="272960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66560" y="3566160"/>
            <a:ext cx="749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8-15 pages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680960" y="1508760"/>
            <a:ext cx="640080" cy="20116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635240" y="12344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35240" y="3566160"/>
            <a:ext cx="749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 pages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4407408"/>
            <a:ext cx="4114800" cy="502920"/>
          </a:xfrm>
          <a:prstGeom prst="rect">
            <a:avLst/>
          </a:prstGeom>
          <a:solidFill>
            <a:srgbClr val="E8FAF8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773168" y="4425696"/>
            <a:ext cx="398678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16+ pages visitées → 74.3% de conversion. Signal dominant de tout le dataset.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48280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EDA : Profil du convertisseur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863840" y="48280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Anciens vs Nouveaux visiteurs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82112" y="804672"/>
            <a:ext cx="2788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319272" y="89611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conversion par pays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804672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263640" y="8961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conversion par source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417320"/>
            <a:ext cx="731520" cy="18288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02920" y="11155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3291840"/>
            <a:ext cx="8961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 (0)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737360" y="2890520"/>
            <a:ext cx="731520" cy="355600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691640" y="25887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64208" y="3291840"/>
            <a:ext cx="8961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(1)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1417320"/>
            <a:ext cx="457200" cy="18288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291840" y="111556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6.3%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91840" y="3291840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959352" y="1707606"/>
            <a:ext cx="457200" cy="153851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913632" y="1405854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13632" y="3291840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81144" y="2055949"/>
            <a:ext cx="457200" cy="1190171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535424" y="1754197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35424" y="3291840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202936" y="3100977"/>
            <a:ext cx="457200" cy="145143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157216" y="2799225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157216" y="3291840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63640" y="1531620"/>
            <a:ext cx="457200" cy="17145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217920" y="122986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3291840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013448" y="1474470"/>
            <a:ext cx="457200" cy="177165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967728" y="117271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67728" y="3291840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763256" y="1531620"/>
            <a:ext cx="457200" cy="171450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7717536" y="122986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717536" y="3291840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" y="4297680"/>
            <a:ext cx="2697480" cy="502920"/>
          </a:xfrm>
          <a:prstGeom prst="rect">
            <a:avLst/>
          </a:prstGeom>
          <a:solidFill>
            <a:srgbClr val="E8FAF8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11480" y="42976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Anciens users convertissent 5× plus (7.2% vs 1.4%)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82112" y="4297680"/>
            <a:ext cx="2788920" cy="502920"/>
          </a:xfrm>
          <a:prstGeom prst="rect">
            <a:avLst/>
          </a:prstGeom>
          <a:solidFill>
            <a:srgbClr val="E8F7FD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3273552" y="42976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Allemagne &amp; UK : marchés prioritaires vs Chine &lt; 0.5%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26480" y="4297680"/>
            <a:ext cx="2606040" cy="502920"/>
          </a:xfrm>
          <a:prstGeom prst="rect">
            <a:avLst/>
          </a:prstGeom>
          <a:solidFill>
            <a:srgbClr val="FEF5E0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6217920" y="42976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source (SEO/Ads/Direct) a très peu d'impact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0040" y="481888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: suppression outlier age &gt; 100 ans (règle ±3σ), données biologiquement impossibles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Modélisation : Pipeline &amp; Comparaison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863840" y="48280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435608" y="1078992"/>
            <a:ext cx="320040" cy="45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1280160" cy="621792"/>
          </a:xfrm>
          <a:prstGeom prst="rect">
            <a:avLst/>
          </a:prstGeom>
          <a:solidFill>
            <a:srgbClr val="D1D9E6"/>
          </a:solidFill>
          <a:ln w="12700">
            <a:solidFill>
              <a:srgbClr val="B0B8C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5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871216" y="1078992"/>
            <a:ext cx="320040" cy="45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1755648" y="804672"/>
            <a:ext cx="1280160" cy="621792"/>
          </a:xfrm>
          <a:prstGeom prst="rect">
            <a:avLst/>
          </a:prstGeom>
          <a:solidFill>
            <a:srgbClr val="BEE3F8"/>
          </a:solidFill>
          <a:ln w="12700">
            <a:solidFill>
              <a:srgbClr val="B0B8C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755648" y="804672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Scaling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OHE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06824" y="1078992"/>
            <a:ext cx="320040" cy="45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191256" y="804672"/>
            <a:ext cx="1280160" cy="621792"/>
          </a:xfrm>
          <a:prstGeom prst="rect">
            <a:avLst/>
          </a:prstGeom>
          <a:solidFill>
            <a:srgbClr val="FEFCBF"/>
          </a:solidFill>
          <a:ln w="12700">
            <a:solidFill>
              <a:srgbClr val="B0B8C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191256" y="804672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4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4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4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(stratifié)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42432" y="1078992"/>
            <a:ext cx="320040" cy="45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626864" y="804672"/>
            <a:ext cx="1280160" cy="621792"/>
          </a:xfrm>
          <a:prstGeom prst="rect">
            <a:avLst/>
          </a:prstGeom>
          <a:solidFill>
            <a:srgbClr val="FED7D7"/>
          </a:solidFill>
          <a:ln w="12700">
            <a:solidFill>
              <a:srgbClr val="B0B8C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626864" y="804672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4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4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4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78040" y="1078992"/>
            <a:ext cx="320040" cy="45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062472" y="804672"/>
            <a:ext cx="1280160" cy="621792"/>
          </a:xfrm>
          <a:prstGeom prst="rect">
            <a:avLst/>
          </a:prstGeom>
          <a:solidFill>
            <a:srgbClr val="C6F6D5"/>
          </a:solidFill>
          <a:ln w="12700">
            <a:solidFill>
              <a:srgbClr val="B0B8C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062472" y="804672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4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C4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+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C4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98080" y="804672"/>
            <a:ext cx="1280160" cy="621792"/>
          </a:xfrm>
          <a:prstGeom prst="rect">
            <a:avLst/>
          </a:prstGeom>
          <a:solidFill>
            <a:srgbClr val="253447"/>
          </a:solidFill>
          <a:ln w="12700">
            <a:solidFill>
              <a:srgbClr val="B0B8C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498080" y="804672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soumis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1572768"/>
            <a:ext cx="4160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48640" y="167335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F1-score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" y="3547872"/>
            <a:ext cx="411480" cy="84124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31520" y="32552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234440" y="3566160"/>
            <a:ext cx="411480" cy="8229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1188720" y="327355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5800" y="44348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11680" y="2743200"/>
            <a:ext cx="411480" cy="16459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1965960" y="245059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68880" y="3337560"/>
            <a:ext cx="411480" cy="10515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2423160" y="304495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920240" y="44348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46120" y="2788920"/>
            <a:ext cx="411480" cy="16002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3200400" y="249631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703320" y="3310128"/>
            <a:ext cx="411480" cy="107899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3657600" y="301752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154680" y="44348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77240" y="4828032"/>
            <a:ext cx="201168" cy="128016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100584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Train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828800" y="4828032"/>
            <a:ext cx="201168" cy="12801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2057400" y="4800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Test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9160" y="1572768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4709160" y="1572768"/>
            <a:ext cx="4114800" cy="4572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4773168" y="1572768"/>
            <a:ext cx="3986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Meilleur modèle : Random Forest GridSearch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846320" y="2103120"/>
            <a:ext cx="3840480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4937760" y="21031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test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269480" y="21031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0.648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46320" y="2478024"/>
            <a:ext cx="3840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4937760" y="247802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269480" y="247802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846320" y="2852928"/>
            <a:ext cx="3840480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4937760" y="28529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269480" y="285292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846320" y="3227832"/>
            <a:ext cx="3840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4937760" y="32278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min_samples_leaf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269480" y="322783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846320" y="3602736"/>
            <a:ext cx="3840480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4937760" y="36027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269480" y="360273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846320" y="3977640"/>
            <a:ext cx="3840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4937760" y="39776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GridSearch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269480" y="39776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846320" y="4352544"/>
            <a:ext cx="3840480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4937760" y="43525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folds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269480" y="435254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Résultats &amp; Recommandations métier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863840" y="48280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importances (Gini — Random Forest)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total_pages_visited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93392" y="1280160"/>
            <a:ext cx="3474720" cy="18288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993392" y="1280160"/>
            <a:ext cx="2640787" cy="1828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532120" y="118872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59105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new_user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93392" y="1682496"/>
            <a:ext cx="3474720" cy="18288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1993392" y="1682496"/>
            <a:ext cx="277978" cy="18288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532120" y="159105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199339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93392" y="2084832"/>
            <a:ext cx="3474720" cy="18288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993392" y="2084832"/>
            <a:ext cx="208483" cy="1828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532120" y="199339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39572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country_UK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93392" y="2487168"/>
            <a:ext cx="3474720" cy="18288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1993392" y="2487168"/>
            <a:ext cx="69494" cy="182880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532120" y="239572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2798064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source_Ads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93392" y="2889504"/>
            <a:ext cx="3474720" cy="18288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1993392" y="2889504"/>
            <a:ext cx="69494" cy="182880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532120" y="279806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2004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country_US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93392" y="3291840"/>
            <a:ext cx="3474720" cy="18288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1993392" y="3291840"/>
            <a:ext cx="69494" cy="182880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532120" y="320040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360273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country_China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93392" y="3694176"/>
            <a:ext cx="3474720" cy="18288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1993392" y="3694176"/>
            <a:ext cx="45720" cy="182880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532120" y="360273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3886200" cy="411480"/>
          </a:xfrm>
          <a:prstGeom prst="rect">
            <a:avLst/>
          </a:prstGeom>
          <a:solidFill>
            <a:srgbClr val="FEF5E0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38912" y="4078224"/>
            <a:ext cx="3749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4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Note : cette variable apparaît comme dominante dans ce modèle (Gini). Les feature importances RF peuvent parfois être biaisées ; à interpréter comme signal fort, pas comme certitude causale.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72000" y="80467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0" y="1170432"/>
            <a:ext cx="4297680" cy="804672"/>
          </a:xfrm>
          <a:prstGeom prst="rect">
            <a:avLst/>
          </a:prstGeom>
          <a:solidFill>
            <a:srgbClr val="E8FAF8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4572000" y="1170432"/>
            <a:ext cx="365760" cy="8046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572000" y="1170432"/>
            <a:ext cx="365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010912" y="12252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sur site / levier #1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10912" y="151790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total_pages_visited représente ~76% de l'importance Gini. Améliorer la navigation, recommander des articles connexes, augmenter la qualité du contenu.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0" y="2084832"/>
            <a:ext cx="4297680" cy="804672"/>
          </a:xfrm>
          <a:prstGeom prst="rect">
            <a:avLst/>
          </a:prstGeom>
          <a:solidFill>
            <a:srgbClr val="FEF5E0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4572000" y="2084832"/>
            <a:ext cx="365760" cy="804672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572000" y="2084832"/>
            <a:ext cx="365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010912" y="2139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Fidéliser les anciens utilisateurs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10912" y="243230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Anciens users : 7.2% vs 1.4% (×5). Retargeting, email de rappel, push notifications.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0" y="2999232"/>
            <a:ext cx="4297680" cy="804672"/>
          </a:xfrm>
          <a:prstGeom prst="rect">
            <a:avLst/>
          </a:prstGeom>
          <a:solidFill>
            <a:srgbClr val="E8F7FD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4572000" y="2999232"/>
            <a:ext cx="365760" cy="8046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4572000" y="2999232"/>
            <a:ext cx="365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010912" y="30540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Cibler Allemagne &amp; UK en priorité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10912" y="334670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6.3%, UK 5.3% → concentrer le budget marketing. Chine &lt; 0.5% : ROI très faible.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0" y="3913632"/>
            <a:ext cx="4297680" cy="804672"/>
          </a:xfrm>
          <a:prstGeom prst="rect">
            <a:avLst/>
          </a:prstGeom>
          <a:solidFill>
            <a:srgbClr val="FDE9F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4572000" y="3913632"/>
            <a:ext cx="365760" cy="804672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4572000" y="3913632"/>
            <a:ext cx="365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010912" y="39684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 trafic : impact marginal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010912" y="426110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SEO, Ads, Direct convergent tous à ~3.2%. Investir dans la source est secondaire face à l'engagement.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Limites du modèle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4160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54864" cy="1481328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84632" y="914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limité à 5 features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4632" y="129844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données comportementales avancées : temps passé par page, scroll depth, historique de navigation, device, heure de visite.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841248"/>
            <a:ext cx="4160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709160" y="841248"/>
            <a:ext cx="54864" cy="1481328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73752" y="914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d'analyse temporelle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73752" y="129844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dataset ne contient pas de dimension temporelle. Les comportements peuvent évoluer selon les saisons, actualités ou campagnes.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487168"/>
            <a:ext cx="4160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" y="2487168"/>
            <a:ext cx="54864" cy="148132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4632" y="2560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Gini potentiellement biaisée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4632" y="294436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importances Gini Random Forest peuvent favoriser les variables à forte cardinalité ou variance. À interpréter avec précaution.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487168"/>
            <a:ext cx="4160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709160" y="2487168"/>
            <a:ext cx="54864" cy="14813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873752" y="2560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moins interprétable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73752" y="294436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interprétable qu'une régression logistique. Pour un usage métier fort, un modèle plus explicable (SHAP, LogReg) serait un complément utile.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4133088"/>
            <a:ext cx="416052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20040" y="4133088"/>
            <a:ext cx="54864" cy="92354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84632" y="413994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d'overfitting résiduel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4632" y="4478274"/>
            <a:ext cx="3840480" cy="5783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Malgré le GridSearch avec CV=3, le score train = 1.0 indique une memorisation forte. Des techniques comme l'early stopping pourraient aider.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4133087"/>
            <a:ext cx="4160520" cy="923543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709160" y="4133088"/>
            <a:ext cx="54864" cy="923544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73752" y="42062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ROC-AUC ni matrice de confusion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73752" y="459028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métriques complémentaires (précision/rappel par seuil, faux positifs/négatifs) enrichiraient l'évaluation au-delà du F1-score.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863840" y="48280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3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170432"/>
            <a:ext cx="8412480" cy="658368"/>
          </a:xfrm>
          <a:prstGeom prst="rect">
            <a:avLst/>
          </a:prstGeom>
          <a:solidFill>
            <a:srgbClr val="1E2E42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75488" y="11704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Dataset fortement déséquilibré (3.2%) → F1-score comme métrique, class_weight='balanced'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975104"/>
            <a:ext cx="8412480" cy="658368"/>
          </a:xfrm>
          <a:prstGeom prst="rect">
            <a:avLst/>
          </a:prstGeom>
          <a:solidFill>
            <a:srgbClr val="1E2E42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75488" y="1975104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Random Forest + GridSearch → F1 test = 0.648, gain de +28% vs baseline LR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2779776"/>
            <a:ext cx="8412480" cy="658368"/>
          </a:xfrm>
          <a:prstGeom prst="rect">
            <a:avLst/>
          </a:prstGeom>
          <a:solidFill>
            <a:srgbClr val="1E2E42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75488" y="277977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total_pages_visited : ~76% de l'importance Gini, variable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dominante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à interpréter comme signal fort dans ce modèle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3584448"/>
            <a:ext cx="8412480" cy="658368"/>
          </a:xfrm>
          <a:prstGeom prst="rect">
            <a:avLst/>
          </a:prstGeom>
          <a:solidFill>
            <a:srgbClr val="1E2E42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75488" y="358444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Anciens users × 5 de taux de conversion → la fidélisation est le vrai levier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Jedha · Marine Deldicque · Classification supervisée · 2026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863840" y="48280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880</Words>
  <Application>Microsoft Macintosh PowerPoint</Application>
  <PresentationFormat>Affichage à l'écran (16:9)</PresentationFormat>
  <Paragraphs>188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Conversion Rate Challenge</dc:title>
  <dc:subject>PptxGenJS Presentation</dc:subject>
  <dc:creator>Marine Deldicque</dc:creator>
  <cp:lastModifiedBy>Marine deldicque</cp:lastModifiedBy>
  <cp:revision>3</cp:revision>
  <dcterms:created xsi:type="dcterms:W3CDTF">2026-05-06T07:45:32Z</dcterms:created>
  <dcterms:modified xsi:type="dcterms:W3CDTF">2026-06-03T08:22:23Z</dcterms:modified>
</cp:coreProperties>
</file>