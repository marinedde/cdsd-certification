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76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Train ($K)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LinearRegression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E4-AE42-A3EF-083FA9FFF6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Test ($K)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LinearRegression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E4-AE42-A3EF-083FA9FFF6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 ($K)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C76-DE4D-BA81-A829E94BFF63}"/>
              </c:ext>
            </c:extLst>
          </c:dPt>
          <c:dPt>
            <c:idx val="1"/>
            <c:invertIfNegative val="0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76-DE4D-BA81-A829E94BFF63}"/>
              </c:ext>
            </c:extLst>
          </c:dPt>
          <c:dPt>
            <c:idx val="2"/>
            <c:invertIfNegative val="0"/>
            <c:bubble3D val="0"/>
            <c:spPr>
              <a:solidFill>
                <a:srgbClr val="4CC9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76-DE4D-BA81-A829E94BFF63}"/>
              </c:ext>
            </c:extLst>
          </c:dPt>
          <c:dPt>
            <c:idx val="3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76-DE4D-BA81-A829E94BFF6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LinearRegression</c:v>
                </c:pt>
                <c:pt idx="1">
                  <c:v>Ridge α=1</c:v>
                </c:pt>
                <c:pt idx="2">
                  <c:v>Lasso α=1</c:v>
                </c:pt>
                <c:pt idx="3">
                  <c:v>Ridge α=0.01*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188</c:v>
                </c:pt>
                <c:pt idx="1">
                  <c:v>216</c:v>
                </c:pt>
                <c:pt idx="2">
                  <c:v>188</c:v>
                </c:pt>
                <c:pt idx="3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76-DE4D-BA81-A829E94BFF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499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des ventes hebdomadaires Walmart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automatique supervisé  ·  Régression linéaire &amp; régularisation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</a:t>
            </a: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Jedha Fullstack Data Science  ·  Certification CDSD  ·  Python · Scikit-learn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2560320" cy="868680"/>
          </a:xfrm>
          <a:prstGeom prst="rect">
            <a:avLst/>
          </a:prstGeom>
          <a:solidFill>
            <a:srgbClr val="06D6A0">
              <a:alpha val="20000"/>
            </a:srgbClr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3108960"/>
            <a:ext cx="2560320" cy="868680"/>
          </a:xfrm>
          <a:prstGeom prst="rect">
            <a:avLst/>
          </a:prstGeom>
          <a:solidFill>
            <a:srgbClr val="FFD166">
              <a:alpha val="20000"/>
            </a:srgbClr>
          </a:solidFill>
          <a:ln w="1524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33756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756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108960"/>
            <a:ext cx="2560320" cy="868680"/>
          </a:xfrm>
          <a:prstGeom prst="rect">
            <a:avLst/>
          </a:prstGeom>
          <a:solidFill>
            <a:srgbClr val="4CC9F0">
              <a:alpha val="20000"/>
            </a:srgbClr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21792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24528"/>
            <a:ext cx="2011680" cy="548640"/>
          </a:xfrm>
          <a:prstGeom prst="rect">
            <a:avLst/>
          </a:prstGeom>
          <a:solidFill>
            <a:srgbClr val="06D6A0"/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Contexte &amp; EDA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78608" y="4224528"/>
            <a:ext cx="2011680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78608" y="4224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Régression linéaire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0016" y="4224528"/>
            <a:ext cx="2011680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00016" y="4224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Régularisation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21424" y="4224528"/>
            <a:ext cx="2011680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21424" y="4224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Conclusion</a:t>
            </a:r>
            <a:endParaRPr lang="en-US" sz="1050" dirty="0"/>
          </a:p>
        </p:txBody>
      </p:sp>
      <p:sp>
        <p:nvSpPr>
          <p:cNvPr id="23" name="TextBox 22"/>
          <p:cNvSpPr txBox="1"/>
          <p:nvPr/>
        </p:nvSpPr>
        <p:spPr>
          <a:xfrm>
            <a:off x="8661400" y="4762500"/>
            <a:ext cx="355600" cy="254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 wrap="none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&amp; Objectifs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marketing Walmart demande un modèle ML pour estimer les ventes hebdomadaires par magasin, afin de comprendre l'impact des indicateurs économiques et mieux planifier les campagnes.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566160" cy="402336"/>
          </a:xfrm>
          <a:prstGeom prst="rect">
            <a:avLst/>
          </a:prstGeom>
          <a:solidFill>
            <a:srgbClr val="06D6A0">
              <a:alpha val="13000"/>
            </a:srgbClr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Weekly_Sales ($)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999232"/>
            <a:ext cx="3566160" cy="402336"/>
          </a:xfrm>
          <a:prstGeom prst="rect">
            <a:avLst/>
          </a:prstGeom>
          <a:solidFill>
            <a:srgbClr val="4CC9F0">
              <a:alpha val="13000"/>
            </a:srgbClr>
          </a:solidFill>
          <a:ln w="1016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éco.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· Carburant · CPI · Chômage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83864"/>
            <a:ext cx="3566160" cy="402336"/>
          </a:xfrm>
          <a:prstGeom prst="rect">
            <a:avLst/>
          </a:prstGeom>
          <a:solidFill>
            <a:srgbClr val="FFD166">
              <a:alpha val="13000"/>
            </a:srgbClr>
          </a:solidFill>
          <a:ln w="1016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0080" y="348386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Catégorielles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 (1–20) · Holiday Flag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68496"/>
            <a:ext cx="3566160" cy="402336"/>
          </a:xfrm>
          <a:prstGeom prst="rect">
            <a:avLst/>
          </a:prstGeom>
          <a:solidFill>
            <a:srgbClr val="EF476F">
              <a:alpha val="13000"/>
            </a:srgbClr>
          </a:solidFill>
          <a:ln w="1016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396849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2010–2012 · 150 semaines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914400"/>
            <a:ext cx="43434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6344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du projet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490472"/>
            <a:ext cx="329184" cy="4297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63440" y="1490472"/>
            <a:ext cx="3291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92624" y="1490472"/>
            <a:ext cx="3703320" cy="429768"/>
          </a:xfrm>
          <a:prstGeom prst="rect">
            <a:avLst/>
          </a:prstGeom>
          <a:solidFill>
            <a:srgbClr val="06D6A0">
              <a:alpha val="12000"/>
            </a:srgbClr>
          </a:solidFill>
          <a:ln w="63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02352" y="14996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Nettoyage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02352" y="17007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valeurs manquantes, feature engineering Date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048256"/>
            <a:ext cx="329184" cy="429768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663440" y="2048256"/>
            <a:ext cx="3291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92624" y="2048256"/>
            <a:ext cx="3703320" cy="429768"/>
          </a:xfrm>
          <a:prstGeom prst="rect">
            <a:avLst/>
          </a:prstGeom>
          <a:solidFill>
            <a:srgbClr val="4CC9F0">
              <a:alpha val="12000"/>
            </a:srgbClr>
          </a:solidFill>
          <a:ln w="63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102352" y="20574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Pipeline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02352" y="22585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 + StandardScaler + SimpleImputer — sans data leakage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606040"/>
            <a:ext cx="329184" cy="4297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63440" y="2606040"/>
            <a:ext cx="3291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92624" y="2606040"/>
            <a:ext cx="3703320" cy="429768"/>
          </a:xfrm>
          <a:prstGeom prst="rect">
            <a:avLst/>
          </a:prstGeom>
          <a:solidFill>
            <a:srgbClr val="FFD166">
              <a:alpha val="12000"/>
            </a:srgbClr>
          </a:solidFill>
          <a:ln w="63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102352" y="2615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: LinearRegression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02352" y="2816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référence simple et interprétable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163824"/>
            <a:ext cx="329184" cy="4297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663440" y="3163824"/>
            <a:ext cx="3291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92624" y="3163824"/>
            <a:ext cx="3703320" cy="429768"/>
          </a:xfrm>
          <a:prstGeom prst="rect">
            <a:avLst/>
          </a:prstGeom>
          <a:solidFill>
            <a:srgbClr val="EF476F">
              <a:alpha val="12000"/>
            </a:srgbClr>
          </a:solidFill>
          <a:ln w="635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102352" y="3172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Ridge / Lasso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02352" y="33741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l'overfitting via pénalité L1/L2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721608"/>
            <a:ext cx="329184" cy="42976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663440" y="3721608"/>
            <a:ext cx="32918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992624" y="3721608"/>
            <a:ext cx="3703320" cy="429768"/>
          </a:xfrm>
          <a:prstGeom prst="rect">
            <a:avLst/>
          </a:prstGeom>
          <a:solidFill>
            <a:srgbClr val="64748B">
              <a:alpha val="12000"/>
            </a:srgbClr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102352" y="37307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sur alpha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02352" y="39319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valeurs × 5 folds = 45 entraînements</a:t>
            </a:r>
            <a:endParaRPr lang="en-US" sz="900" dirty="0"/>
          </a:p>
        </p:txBody>
      </p:sp>
      <p:sp>
        <p:nvSpPr>
          <p:cNvPr id="42" name="TextBox 41"/>
          <p:cNvSpPr txBox="1"/>
          <p:nvPr/>
        </p:nvSpPr>
        <p:spPr>
          <a:xfrm>
            <a:off x="8661400" y="4762500"/>
            <a:ext cx="355600" cy="254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 wrap="none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EDA &amp; Prétraitement des données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31920" cy="36576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Problèmes identifiés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3931920" cy="384048"/>
          </a:xfrm>
          <a:prstGeom prst="rect">
            <a:avLst/>
          </a:prstGeom>
          <a:solidFill>
            <a:srgbClr val="FDEE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5488" y="12984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14 lignes sans Weekly_Sales → cible manquante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18 dates nulles → feature engineering nécessaire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3931920" cy="384048"/>
          </a:xfrm>
          <a:prstGeom prst="rect">
            <a:avLst/>
          </a:prstGeom>
          <a:solidFill>
            <a:srgbClr val="FDEE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" y="22128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Valeurs manquantes : Température, CPI, Chômage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" y="2670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5 outliers Unemployment &gt; 3σ (taux ~14%)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914400"/>
            <a:ext cx="43434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480560" y="914400"/>
            <a:ext cx="4343400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61772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Solutions appliquées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1298448"/>
            <a:ext cx="4343400" cy="384048"/>
          </a:xfrm>
          <a:prstGeom prst="rect">
            <a:avLst/>
          </a:prstGeom>
          <a:solidFill>
            <a:srgbClr val="E0F8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17720" y="12984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984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lignes cible=NaN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1755648"/>
            <a:ext cx="43434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17720" y="17556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pd.to_datetime()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7556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Year, Month, Day, DayOfWeek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2212848"/>
            <a:ext cx="4343400" cy="384048"/>
          </a:xfrm>
          <a:prstGeom prst="rect">
            <a:avLst/>
          </a:prstGeom>
          <a:solidFill>
            <a:srgbClr val="E0F8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617720" y="22128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SimpleImputer(median)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212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médiane dans le pipeline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2670048"/>
            <a:ext cx="43434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17720" y="26700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Règle ±3σ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6700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outliers 4 colonnes numériques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337560"/>
            <a:ext cx="8503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3337560"/>
            <a:ext cx="850392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scikit-learn — anti data leakage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3767328"/>
            <a:ext cx="1298448" cy="914400"/>
          </a:xfrm>
          <a:prstGeom prst="rect">
            <a:avLst/>
          </a:prstGeom>
          <a:solidFill>
            <a:srgbClr val="4CC9F0">
              <a:alpha val="20000"/>
            </a:srgbClr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11480" y="3767328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709928" y="4224528"/>
            <a:ext cx="73152" cy="0"/>
          </a:xfrm>
          <a:prstGeom prst="line">
            <a:avLst/>
          </a:prstGeom>
          <a:noFill/>
          <a:ln w="1524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1783080" y="3767328"/>
            <a:ext cx="1298448" cy="914400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783080" y="3767328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(médiane)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81528" y="4224528"/>
            <a:ext cx="73152" cy="0"/>
          </a:xfrm>
          <a:prstGeom prst="line">
            <a:avLst/>
          </a:prstGeom>
          <a:noFill/>
          <a:ln w="1524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154680" y="3767328"/>
            <a:ext cx="1298448" cy="914400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154680" y="3767328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26280" y="3767328"/>
            <a:ext cx="1298448" cy="914400"/>
          </a:xfrm>
          <a:prstGeom prst="rect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526280" y="3767328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Catégorielles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24728" y="4224528"/>
            <a:ext cx="73152" cy="0"/>
          </a:xfrm>
          <a:prstGeom prst="line">
            <a:avLst/>
          </a:prstGeom>
          <a:noFill/>
          <a:ln w="1524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5897880" y="3767328"/>
            <a:ext cx="1298448" cy="914400"/>
          </a:xfrm>
          <a:prstGeom prst="rect">
            <a:avLst/>
          </a:prstGeom>
          <a:solidFill>
            <a:srgbClr val="EF476F">
              <a:alpha val="2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897880" y="3767328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96328" y="4224528"/>
            <a:ext cx="73152" cy="0"/>
          </a:xfrm>
          <a:prstGeom prst="line">
            <a:avLst/>
          </a:prstGeom>
          <a:noFill/>
          <a:ln w="1524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7269480" y="3767328"/>
            <a:ext cx="1298448" cy="914400"/>
          </a:xfrm>
          <a:prstGeom prst="rect">
            <a:avLst/>
          </a:prstGeom>
          <a:solidFill>
            <a:srgbClr val="EF476F">
              <a:alpha val="2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7269480" y="3767328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950" dirty="0"/>
          </a:p>
        </p:txBody>
      </p:sp>
      <p:sp>
        <p:nvSpPr>
          <p:cNvPr id="49" name="TextBox 48"/>
          <p:cNvSpPr txBox="1"/>
          <p:nvPr/>
        </p:nvSpPr>
        <p:spPr>
          <a:xfrm>
            <a:off x="8661400" y="4762500"/>
            <a:ext cx="355600" cy="254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 wrap="none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Régression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baseline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920240" cy="25603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Train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K$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moyenne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82296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468880" y="822960"/>
            <a:ext cx="1920240" cy="25603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68880" y="822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115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K$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1572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inconnues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17720" y="822960"/>
            <a:ext cx="1920240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17720" y="822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115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1572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expliquée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82296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766560" y="822960"/>
            <a:ext cx="1920240" cy="25603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766560" y="8229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115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1572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expliquée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Train vs Test</a:t>
            </a:r>
            <a:endParaRPr lang="en-US" sz="13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20040" y="2331720"/>
          <a:ext cx="40233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4572000" y="1965960"/>
            <a:ext cx="425196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4572000" y="1965960"/>
            <a:ext cx="425196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663440" y="1965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coefficients — variables Store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0" y="2404872"/>
            <a:ext cx="4251960" cy="310896"/>
          </a:xfrm>
          <a:prstGeom prst="rect">
            <a:avLst/>
          </a:prstGeom>
          <a:solidFill>
            <a:srgbClr val="E0F8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709160" y="240487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Store_14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315200" y="24048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+0.9K$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0" y="2752344"/>
            <a:ext cx="4251960" cy="310896"/>
          </a:xfrm>
          <a:prstGeom prst="rect">
            <a:avLst/>
          </a:prstGeom>
          <a:solidFill>
            <a:srgbClr val="E0F8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709160" y="27523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315200" y="27523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+0.9K$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0" y="3099816"/>
            <a:ext cx="4251960" cy="310896"/>
          </a:xfrm>
          <a:prstGeom prst="rect">
            <a:avLst/>
          </a:prstGeom>
          <a:solidFill>
            <a:srgbClr val="E0F8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4709160" y="309981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Store_20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15200" y="30998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+0.8K$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0" y="3447288"/>
            <a:ext cx="4251960" cy="310896"/>
          </a:xfrm>
          <a:prstGeom prst="rect">
            <a:avLst/>
          </a:prstGeom>
          <a:solidFill>
            <a:srgbClr val="FDEE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4709160" y="344728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Store_5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315200" y="34472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-1.1K$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0" y="3794760"/>
            <a:ext cx="4251960" cy="310896"/>
          </a:xfrm>
          <a:prstGeom prst="rect">
            <a:avLst/>
          </a:prstGeom>
          <a:solidFill>
            <a:srgbClr val="FDEE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4709160" y="379476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Store_3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315200" y="37947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-0.9K$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0" y="4142232"/>
            <a:ext cx="4251960" cy="310896"/>
          </a:xfrm>
          <a:prstGeom prst="rect">
            <a:avLst/>
          </a:prstGeom>
          <a:solidFill>
            <a:srgbClr val="FDEE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/>
          <p:nvPr/>
        </p:nvSpPr>
        <p:spPr>
          <a:xfrm>
            <a:off x="4709160" y="414223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Store_16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315200" y="41422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-0.9K$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572000" y="4507992"/>
            <a:ext cx="4251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magasin : variable la plus explicative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6"/>
          <p:cNvSpPr/>
          <p:nvPr/>
        </p:nvSpPr>
        <p:spPr>
          <a:xfrm>
            <a:off x="457200" y="47091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Overfitting léger : R² train (0.978) &gt; R² test (0.898). </a:t>
            </a:r>
            <a:r>
              <a:rPr lang="en-US" sz="9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0.08, acceptable. Mais 104 lignes pour 29 features → le modèle mémorise les magasins plutôt qu'il n'apprend.</a:t>
            </a:r>
            <a:endParaRPr lang="en-US" sz="950" dirty="0"/>
          </a:p>
        </p:txBody>
      </p:sp>
      <p:sp>
        <p:nvSpPr>
          <p:cNvPr id="50" name="TextBox 49"/>
          <p:cNvSpPr txBox="1"/>
          <p:nvPr/>
        </p:nvSpPr>
        <p:spPr>
          <a:xfrm>
            <a:off x="8661400" y="4762500"/>
            <a:ext cx="355600" cy="254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 wrap="none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Limites &amp; regard critique sur le modèle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9768" y="8229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Ratio features/données défavorable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lignes d'entraînement pour 29 features (dont 20 colonnes OHE Store). Règle empirique : 10 obs/feature minimum. Ici ~3.5. Le modèle mémorise plutôt qu'il ne généralise.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14800" cy="3840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10328" y="8229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Test set trop petit pour être fiable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10328" y="1280160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lignes en test set. Le R²=0.898 a une forte variance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 re-splitant différemment on obtiendrait probablement des scores très différents.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114800" cy="384048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9768" y="29260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Le modèle reconnaît plutôt qu'il ne prédit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9768" y="3383280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coefficients les plus forts sont tous des identifiants magasin (±900K$). Il dit juste "Store 14 vend </a:t>
            </a:r>
            <a:r>
              <a:rPr lang="en-US" sz="11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</a:t>
            </a: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beaucoup”, pas de vraie relation économique captée.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114800" cy="38404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10328" y="29260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Ce qu'il faudrait sur un vrai projet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0328" y="3383280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plus de données (dataset Kaggle : 421 570 lignes). Regrouper les magasins par type/taille (3–4 catégories). Tester Random Forest ou Gradient Boosting.</a:t>
            </a:r>
            <a:endParaRPr lang="en-US" sz="1100" dirty="0"/>
          </a:p>
        </p:txBody>
      </p:sp>
      <p:sp>
        <p:nvSpPr>
          <p:cNvPr id="20" name="TextBox 19"/>
          <p:cNvSpPr txBox="1"/>
          <p:nvPr/>
        </p:nvSpPr>
        <p:spPr>
          <a:xfrm>
            <a:off x="8661400" y="4762500"/>
            <a:ext cx="355600" cy="254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 wrap="none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Régularisation — Ridge · Lasso · GridSearchCV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329184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Ridge (L2)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proportionnellement tous les coefs. Ici ça écrase les variables Store très informatives → légère dégradation.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2697480" cy="32918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337560" y="82296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Lasso (L1)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120700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des coefs exactement à 0 : 1 variable éliminée sur 29. Performances quasi identiques à LinearRegression.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72200" y="822960"/>
            <a:ext cx="2697480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63640" y="82296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GridSearchCV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120700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alpha × 5 folds = 45 entraînements. Alpha optimal = 0.01 → confirme que la régularisation forte nuit ici.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2331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des modèles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20040" y="2697480"/>
          <a:ext cx="4206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4754880" y="2331720"/>
            <a:ext cx="40690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754880" y="2331720"/>
            <a:ext cx="406908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46320" y="2331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63640" y="2331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296912" y="23317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01584" y="23317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2715768"/>
            <a:ext cx="4069080" cy="384048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846320" y="2715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63640" y="27157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188 478 $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96912" y="271576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0.8977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101584" y="271576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54880" y="3136392"/>
            <a:ext cx="40690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846320" y="3136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  α=1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63640" y="31363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216 126 $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296912" y="313639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101584" y="313639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Sur-régularisé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54880" y="3557016"/>
            <a:ext cx="4069080" cy="384048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4846320" y="35570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Lasso  α=1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263640" y="35570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188 476 $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296912" y="355701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0.8977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101584" y="355701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coef→0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754880" y="3977640"/>
            <a:ext cx="40690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484632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  α=0.01*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263640" y="39776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189 230 $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296912" y="39776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0.8969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101584" y="39776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GS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754880" y="4965192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trouvé par GridSearchCV — 5-fold cross-validation, 9 valeurs testées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20040" y="4773168"/>
            <a:ext cx="4206240" cy="182880"/>
          </a:xfrm>
          <a:prstGeom prst="rect">
            <a:avLst/>
          </a:prstGeom>
          <a:noFill/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3"/>
          <p:cNvSpPr/>
          <p:nvPr/>
        </p:nvSpPr>
        <p:spPr>
          <a:xfrm>
            <a:off x="320040" y="4690872"/>
            <a:ext cx="4206240" cy="274320"/>
          </a:xfrm>
          <a:prstGeom prst="rect">
            <a:avLst/>
          </a:prstGeom>
          <a:solidFill>
            <a:srgbClr val="06D6A0">
              <a:alpha val="15000"/>
            </a:srgbClr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438912" y="4690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optimal = 0.01 : la régularisation forte nuit ici. La vraie solution = revoir l'encodage Store.</a:t>
            </a:r>
            <a:endParaRPr lang="en-US" sz="950" dirty="0"/>
          </a:p>
        </p:txBody>
      </p:sp>
      <p:sp>
        <p:nvSpPr>
          <p:cNvPr id="48" name="TextBox 47"/>
          <p:cNvSpPr txBox="1"/>
          <p:nvPr/>
        </p:nvSpPr>
        <p:spPr>
          <a:xfrm>
            <a:off x="8661400" y="4762500"/>
            <a:ext cx="355600" cy="254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 wrap="none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 &amp; enseignements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321040" cy="685800"/>
          </a:xfrm>
          <a:prstGeom prst="rect">
            <a:avLst/>
          </a:prstGeom>
          <a:solidFill>
            <a:srgbClr val="06D6A0">
              <a:alpha val="15000"/>
            </a:srgbClr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Meilleur modèle : LinearRegression / Lasso α=1 · RMSE 188K$ · R²=0.90 sur test set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75104"/>
            <a:ext cx="8321040" cy="685800"/>
          </a:xfrm>
          <a:prstGeom prst="rect">
            <a:avLst/>
          </a:prstGeom>
          <a:solidFill>
            <a:srgbClr val="FFD166">
              <a:alpha val="15000"/>
            </a:srgbClr>
          </a:solidFill>
          <a:ln w="1016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975104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Variable dominante : l'identifiant magasin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l'essential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 les indicateurs économiques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79776"/>
            <a:ext cx="8321040" cy="685800"/>
          </a:xfrm>
          <a:prstGeom prst="rect">
            <a:avLst/>
          </a:prstGeom>
          <a:solidFill>
            <a:srgbClr val="EF476F">
              <a:alpha val="15000"/>
            </a:srgbClr>
          </a:solidFill>
          <a:ln w="1016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Scores à relativiser : R² train 0.978 probablement gonflé. 104 lignes pour 29 features. Test set de 27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peu robuste.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584448"/>
            <a:ext cx="8321040" cy="685800"/>
          </a:xfrm>
          <a:prstGeom prst="rect">
            <a:avLst/>
          </a:prstGeom>
          <a:solidFill>
            <a:srgbClr val="4CC9F0">
              <a:alpha val="15000"/>
            </a:srgbClr>
          </a:solidFill>
          <a:ln w="1016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3584448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Alpha optimal = 0.01 → la régularisation ne suffit pas. Plus de données + encodage magasin par catégorie seraient nécessaires.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Deldicque  ·  Jedha CDSD  ·  Merci · Questions ?</a:t>
            </a:r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8661400" y="4762500"/>
            <a:ext cx="355600" cy="254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 wrap="none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821</Words>
  <Application>Microsoft Macintosh PowerPoint</Application>
  <PresentationFormat>Affichage à l'écran (16:9)</PresentationFormat>
  <Paragraphs>143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Weekly Sales — Marine Deldicque</dc:title>
  <dc:subject>PptxGenJS Presentation</dc:subject>
  <dc:creator>PptxGenJS</dc:creator>
  <cp:lastModifiedBy>Marine deldicque</cp:lastModifiedBy>
  <cp:revision>2</cp:revision>
  <dcterms:created xsi:type="dcterms:W3CDTF">2026-05-03T01:50:59Z</dcterms:created>
  <dcterms:modified xsi:type="dcterms:W3CDTF">2026-05-03T01:57:19Z</dcterms:modified>
</cp:coreProperties>
</file>