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7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18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97280" cy="457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KAYAK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données : Recommandation de destinations en France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838"/>
                </a:solidFill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96596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838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01752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Hôtels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83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45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6908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838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45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83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45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17220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838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34747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45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22376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DELDICQUE - Certification CDSD · Bloc 1 - Infrastructure de données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utilisateurs veulent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d'infos sur les destinations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09728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2743200" cy="41148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01752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voyage fragmentées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unifiée météo + hôtels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villes sans infrastructure commune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743200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le pipeline complet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Intégrer 3 sources de données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Alimenter une future app de reco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046720" cy="59436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:  Collecte APIs  →  Data Lake S3  →  ETL  →  Data Warehouse RDS  →  Visualisation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end-to-end avec gestion des contraintes API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des données (3 sources)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60320" cy="50292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612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Nominatim (GPS)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1737360"/>
            <a:ext cx="54864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villes françaises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514600"/>
            <a:ext cx="54864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time.sleep(1) - rate limit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" y="3291840"/>
            <a:ext cx="54864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6868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User-Agent obligatoire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3280" y="10515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383280" y="1051560"/>
            <a:ext cx="2560320" cy="50292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6128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8620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520440" y="1737360"/>
            <a:ext cx="54864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370332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Prévisions 5 jours / 3h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520440" y="2514600"/>
            <a:ext cx="54864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370332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temp - </a:t>
            </a:r>
            <a:r>
              <a:rPr lang="en-US" sz="105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pluie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humid/10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520440" y="3291840"/>
            <a:ext cx="54864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370332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via Secrets Colab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17920" y="10515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6217920" y="1051560"/>
            <a:ext cx="2560320" cy="5029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61288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2084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SerpAPI (Google Hotels)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355080" y="1737360"/>
            <a:ext cx="54864" cy="4572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653796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hôtels / ville = 700 total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355080" y="2514600"/>
            <a:ext cx="54864" cy="4572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653796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Booking.com bloqué (Cloudflare)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355080" y="3291840"/>
            <a:ext cx="54864" cy="4572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9"/>
          <p:cNvSpPr/>
          <p:nvPr/>
        </p:nvSpPr>
        <p:spPr>
          <a:xfrm>
            <a:off x="653796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gratuit : 100 req/mois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54864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multi-sources avec gestion des contraintes API (rate limit, auth, anti-scraping)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S3 &amp; Data Warehouse 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657600" cy="50292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612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: AWS S3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brut : tout arrive tel quel, rien n'est perdu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  cities_gps.csv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  weather_raw.csv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  weather_score.csv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  hotels_raw.csv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  hotels_clean.csv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97680" y="2286000"/>
            <a:ext cx="548640" cy="10972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97680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937760" y="10515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937760" y="1051560"/>
            <a:ext cx="3657600" cy="50292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16128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0" y="1051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: RDS MySQL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nettoyées, requêtables en SQL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212080" y="2103120"/>
            <a:ext cx="3108960" cy="530352"/>
          </a:xfrm>
          <a:prstGeom prst="rect">
            <a:avLst/>
          </a:prstGeom>
          <a:solidFill>
            <a:srgbClr val="EEF3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5394960" y="21031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9224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</a:t>
            </a:r>
            <a:r>
              <a:rPr lang="en-US" sz="1000" dirty="0" err="1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</a:t>
            </a: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coordonnées GPS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212080" y="2761488"/>
            <a:ext cx="3108960" cy="530352"/>
          </a:xfrm>
          <a:prstGeom prst="rect">
            <a:avLst/>
          </a:prstGeom>
          <a:solidFill>
            <a:srgbClr val="EEF3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5394960" y="27614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92240" y="276148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</a:t>
            </a:r>
            <a:r>
              <a:rPr lang="en-US" sz="1000" dirty="0" err="1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</a:t>
            </a: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scores météo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212080" y="3419856"/>
            <a:ext cx="3108960" cy="530352"/>
          </a:xfrm>
          <a:prstGeom prst="rect">
            <a:avLst/>
          </a:prstGeom>
          <a:solidFill>
            <a:srgbClr val="EEF3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5394960" y="341985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hotels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492240" y="341985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</a:t>
            </a:r>
            <a:r>
              <a:rPr lang="en-US" sz="1000" dirty="0" err="1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</a:t>
            </a:r>
            <a:r>
              <a:rPr lang="en-US" sz="100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hôtels enrichis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données brutes / données </a:t>
            </a:r>
            <a:r>
              <a:rPr lang="en-US" sz="900" i="1" dirty="0" err="1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nettoyées</a:t>
            </a:r>
            <a:r>
              <a:rPr lang="en-US" sz="900" i="1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traçabilité et fiabilité garanties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Visualisations Plotly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86200" cy="457200"/>
          </a:xfrm>
          <a:prstGeom prst="rect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1 : Top 5 Destinations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 bulles = score météo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 = température (RdYlGn)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= score, temp, pluviométrie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au jour de la collecte 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201168" cy="2011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3444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Rochelle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127248"/>
            <a:ext cx="201168" cy="2011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14400" y="3127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Havre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419856"/>
            <a:ext cx="201168" cy="2011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419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34440" y="3401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712464"/>
            <a:ext cx="201168" cy="2011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14400" y="37124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3694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Bormes-les-Mimosas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005072"/>
            <a:ext cx="201168" cy="201168"/>
          </a:xfrm>
          <a:prstGeom prst="ellipse">
            <a:avLst/>
          </a:prstGeom>
          <a:solidFill>
            <a:srgbClr val="1B7A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14400" y="4005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3986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Toulouse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3886200" cy="4572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2 : Top 20 Hôtels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Filtrés sur les 5 meilleures villes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Triés par overall_rating (SerpAPI)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= nom, ville, score, prix/nuit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enrichies :</a:t>
            </a:r>
            <a:endParaRPr lang="en-US" sz="10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34640"/>
            <a:ext cx="164592" cy="16459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03520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&amp; coordonnées GPS</a:t>
            </a:r>
            <a:endParaRPr lang="en-US" sz="10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54680"/>
            <a:ext cx="164592" cy="16459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03520" y="3136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(overall_rating)</a:t>
            </a:r>
            <a:endParaRPr lang="en-US" sz="10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74720"/>
            <a:ext cx="164592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0352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par nuit (€)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94760"/>
            <a:ext cx="164592" cy="16459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303520" y="3776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 (amenities)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4864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interactives : identification rapide des meilleures destinations et hôtels</a:t>
            </a:r>
            <a:endParaRPr lang="en-US" sz="900" dirty="0"/>
          </a:p>
        </p:txBody>
      </p:sp>
      <p:pic>
        <p:nvPicPr>
          <p:cNvPr id="40" name="Image 39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C4E599D-B11E-4D55-A13D-BB1AB2A73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306" y="4017776"/>
            <a:ext cx="2523067" cy="1052568"/>
          </a:xfrm>
          <a:prstGeom prst="rect">
            <a:avLst/>
          </a:prstGeom>
        </p:spPr>
      </p:pic>
      <p:pic>
        <p:nvPicPr>
          <p:cNvPr id="42" name="Image 41" descr="Une image contenant texte, capture d’écran, carte&#10;&#10;Le contenu généré par l’IA peut être incorrect.">
            <a:extLst>
              <a:ext uri="{FF2B5EF4-FFF2-40B4-BE49-F238E27FC236}">
                <a16:creationId xmlns:a16="http://schemas.microsoft.com/office/drawing/2014/main" id="{1DF3835A-3473-69BF-C784-B0CBD5B74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33" y="2756144"/>
            <a:ext cx="2309707" cy="963559"/>
          </a:xfrm>
          <a:prstGeom prst="rect">
            <a:avLst/>
          </a:prstGeom>
        </p:spPr>
      </p:pic>
      <p:pic>
        <p:nvPicPr>
          <p:cNvPr id="44" name="Image 43" descr="Une image contenant texte, capture d’écran, carte&#10;&#10;Le contenu généré par l’IA peut être incorrect.">
            <a:extLst>
              <a:ext uri="{FF2B5EF4-FFF2-40B4-BE49-F238E27FC236}">
                <a16:creationId xmlns:a16="http://schemas.microsoft.com/office/drawing/2014/main" id="{E1781CC9-AA31-5AC3-162D-53BA0F95BA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079" y="2667068"/>
            <a:ext cx="2503761" cy="1045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 à l'échelle (Big Data)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cette échelle : Pandas + MySQL suffisent.  À l'échelle mondiale (millions d'hôtels, temps réel) 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057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Besoin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Outil actuel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Outil à l'échelle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Traitement distribué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Spark (PySpark)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Warehouse analytique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 MySQL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Redshift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Exécution managée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/ Colab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EMR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 temps réel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manuel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7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Kafka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solidFill>
            <a:srgbClr val="0D3B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L'architecture Sources → Lake → ETL → Warehouse → Visu reste identique. Seuls les outils changent.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1005840"/>
          </a:xfrm>
          <a:prstGeom prst="rect">
            <a:avLst/>
          </a:prstGeom>
          <a:solidFill>
            <a:srgbClr val="1B7A8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Nominatim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villes géocodées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83280" y="1051560"/>
            <a:ext cx="2560320" cy="1005840"/>
          </a:xfrm>
          <a:prstGeom prst="rect">
            <a:avLst/>
          </a:prstGeom>
          <a:solidFill>
            <a:srgbClr val="1B7A8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1887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048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météo sur 5 jours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17920" y="1051560"/>
            <a:ext cx="2560320" cy="1005840"/>
          </a:xfrm>
          <a:prstGeom prst="rect">
            <a:avLst/>
          </a:prstGeom>
          <a:solidFill>
            <a:srgbClr val="1B7A8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887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7512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SerpAPI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675120" y="1508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hôtels collectés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2286000"/>
            <a:ext cx="2560320" cy="1005840"/>
          </a:xfrm>
          <a:prstGeom prst="rect">
            <a:avLst/>
          </a:prstGeom>
          <a:solidFill>
            <a:srgbClr val="1B7A8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2316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0584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: 5 fichiers bruts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383280" y="2286000"/>
            <a:ext cx="2560320" cy="1005840"/>
          </a:xfrm>
          <a:prstGeom prst="rect">
            <a:avLst/>
          </a:prstGeom>
          <a:solidFill>
            <a:srgbClr val="1B7A8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42316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4048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+ RDS MySQL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84048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: 3 tables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17920" y="2286000"/>
            <a:ext cx="2560320" cy="1005840"/>
          </a:xfrm>
          <a:prstGeom prst="rect">
            <a:avLst/>
          </a:prstGeom>
          <a:solidFill>
            <a:srgbClr val="1B7A8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42316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7512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6751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cartes interactives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0"/>
          <p:cNvSpPr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end-to-end : collecte multi-sources → stockage cloud → ETL → visualisation, avec bonnes pratiques de sécurité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:  Machine Learning pour scoring avancé  ·  API REST pour l'application  ·  Personnalisation utilisateur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046720" y="4663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578</Words>
  <Application>Microsoft Macintosh PowerPoint</Application>
  <PresentationFormat>Affichage à l'écran (16:9)</PresentationFormat>
  <Paragraphs>136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Kayak — CDSD Bloc 1</dc:title>
  <dc:subject>PptxGenJS Presentation</dc:subject>
  <dc:creator>Marine Deldicque</dc:creator>
  <cp:lastModifiedBy>Marine deldicque</cp:lastModifiedBy>
  <cp:revision>3</cp:revision>
  <dcterms:created xsi:type="dcterms:W3CDTF">2026-06-03T07:11:53Z</dcterms:created>
  <dcterms:modified xsi:type="dcterms:W3CDTF">2026-06-03T08:06:07Z</dcterms:modified>
</cp:coreProperties>
</file>